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6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8" d="100"/>
          <a:sy n="98" d="100"/>
        </p:scale>
        <p:origin x="-3710"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Captains</c:v>
                </c:pt>
              </c:strCache>
            </c:strRef>
          </c:tx>
          <c:spPr>
            <a:solidFill>
              <a:srgbClr val="1E2761"/>
            </a:solidFill>
            <a:effectLst/>
          </c:spPr>
          <c:invertIfNegative val="0"/>
          <c:dLbls>
            <c:numFmt formatCode="#,##0" sourceLinked="0"/>
            <c:spPr>
              <a:noFill/>
              <a:ln>
                <a:noFill/>
              </a:ln>
              <a:effectLst/>
            </c:spPr>
            <c:txPr>
              <a:bodyPr/>
              <a:lstStyle/>
              <a:p>
                <a:pPr>
                  <a:defRPr sz="1000" b="1" i="0" u="none" strike="noStrike">
                    <a:solidFill>
                      <a:srgbClr val="141B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Signup</c:v>
                </c:pt>
                <c:pt idx="1">
                  <c:v>DL Cleared</c:v>
                </c:pt>
                <c:pt idx="2">
                  <c:v>RC Cleared</c:v>
                </c:pt>
                <c:pt idx="3">
                  <c:v>Aadhaar Cleared</c:v>
                </c:pt>
                <c:pt idx="4">
                  <c:v>Permit Cleared</c:v>
                </c:pt>
                <c:pt idx="5">
                  <c:v>Fitness Cleared</c:v>
                </c:pt>
                <c:pt idx="6">
                  <c:v>Insurance Cleared</c:v>
                </c:pt>
                <c:pt idx="7">
                  <c:v>Approved</c:v>
                </c:pt>
              </c:strCache>
            </c:strRef>
          </c:cat>
          <c:val>
            <c:numRef>
              <c:f>Sheet1!$B$2:$B$9</c:f>
              <c:numCache>
                <c:formatCode>General</c:formatCode>
                <c:ptCount val="8"/>
                <c:pt idx="0">
                  <c:v>22561</c:v>
                </c:pt>
                <c:pt idx="1">
                  <c:v>19967</c:v>
                </c:pt>
                <c:pt idx="2">
                  <c:v>14534</c:v>
                </c:pt>
                <c:pt idx="3">
                  <c:v>12988</c:v>
                </c:pt>
                <c:pt idx="4">
                  <c:v>12170</c:v>
                </c:pt>
                <c:pt idx="5">
                  <c:v>7689</c:v>
                </c:pt>
                <c:pt idx="6">
                  <c:v>4380</c:v>
                </c:pt>
                <c:pt idx="7">
                  <c:v>3969</c:v>
                </c:pt>
              </c:numCache>
            </c:numRef>
          </c:val>
          <c:extLst>
            <c:ext xmlns:c16="http://schemas.microsoft.com/office/drawing/2014/chart" uri="{C3380CC4-5D6E-409C-BE32-E72D297353CC}">
              <c16:uniqueId val="{00000000-049E-42DF-AC8F-4DC5EF04D6C7}"/>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B1F3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A2O</c:v>
                </c:pt>
              </c:strCache>
            </c:strRef>
          </c:tx>
          <c:spPr>
            <a:solidFill>
              <a:srgbClr val="F96167"/>
            </a:solidFill>
            <a:effectLst/>
          </c:spPr>
          <c:invertIfNegative val="0"/>
          <c:dLbls>
            <c:numFmt formatCode="0.00&quot;%&quot;" sourceLinked="0"/>
            <c:spPr>
              <a:noFill/>
              <a:ln>
                <a:noFill/>
              </a:ln>
              <a:effectLst/>
            </c:spPr>
            <c:txPr>
              <a:bodyPr/>
              <a:lstStyle/>
              <a:p>
                <a:pPr>
                  <a:defRPr sz="1300" b="1" i="0" u="none" strike="noStrike">
                    <a:solidFill>
                      <a:srgbClr val="141B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WhatsApp exposed</c:v>
                </c:pt>
                <c:pt idx="1">
                  <c:v>No WhatsApp</c:v>
                </c:pt>
              </c:strCache>
            </c:strRef>
          </c:cat>
          <c:val>
            <c:numRef>
              <c:f>Sheet1!$B$2:$B$3</c:f>
              <c:numCache>
                <c:formatCode>General</c:formatCode>
                <c:ptCount val="2"/>
                <c:pt idx="0">
                  <c:v>29.18</c:v>
                </c:pt>
                <c:pt idx="1">
                  <c:v>25.03</c:v>
                </c:pt>
              </c:numCache>
            </c:numRef>
          </c:val>
          <c:extLst>
            <c:ext xmlns:c16="http://schemas.microsoft.com/office/drawing/2014/chart" uri="{C3380CC4-5D6E-409C-BE32-E72D297353CC}">
              <c16:uniqueId val="{00000000-039D-42AD-8148-E7BF13F24A3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1F3B"/>
                </a:solidFill>
                <a:latin typeface="Arial"/>
              </a:defRPr>
            </a:pPr>
            <a:endParaRPr lang="en-US"/>
          </a:p>
        </c:txPr>
        <c:crossAx val="2094734552"/>
        <c:crosses val="autoZero"/>
        <c:auto val="1"/>
        <c:lblAlgn val="ctr"/>
        <c:lblOffset val="100"/>
        <c:noMultiLvlLbl val="1"/>
      </c:catAx>
      <c:valAx>
        <c:axId val="2094734552"/>
        <c:scaling>
          <c:orientation val="minMax"/>
          <c:max val="34"/>
        </c:scaling>
        <c:delete val="1"/>
        <c:axPos val="b"/>
        <c:numFmt formatCode="General" sourceLinked="0"/>
        <c:majorTickMark val="out"/>
        <c:minorTickMark val="none"/>
        <c:tickLblPos val="low"/>
        <c:crossAx val="2094734554"/>
        <c:crosses val="autoZero"/>
        <c:crossBetween val="between"/>
      </c:val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Unfulfilled rate</c:v>
                </c:pt>
              </c:strCache>
            </c:strRef>
          </c:tx>
          <c:spPr>
            <a:ln w="31750" cap="flat">
              <a:solidFill>
                <a:srgbClr val="F96167"/>
              </a:solidFill>
              <a:prstDash val="solid"/>
              <a:round/>
            </a:ln>
            <a:effectLst/>
          </c:spPr>
          <c:marker>
            <c:symbol val="circle"/>
            <c:size val="5"/>
            <c:spPr>
              <a:solidFill>
                <a:srgbClr val="F96167"/>
              </a:solidFill>
              <a:ln w="9525" cap="flat">
                <a:solidFill>
                  <a:srgbClr val="F96167"/>
                </a:solidFill>
                <a:prstDash val="solid"/>
                <a:round/>
              </a:ln>
              <a:effectLst/>
            </c:spPr>
          </c:marker>
          <c:cat>
            <c:strRef>
              <c:f>Sheet1!$A$2:$A$14</c:f>
              <c:strCache>
                <c:ptCount val="13"/>
                <c:pt idx="0">
                  <c:v>18</c:v>
                </c:pt>
                <c:pt idx="1">
                  <c:v>19</c:v>
                </c:pt>
                <c:pt idx="2">
                  <c:v>20</c:v>
                </c:pt>
                <c:pt idx="3">
                  <c:v>21</c:v>
                </c:pt>
                <c:pt idx="4">
                  <c:v>22</c:v>
                </c:pt>
                <c:pt idx="5">
                  <c:v>23</c:v>
                </c:pt>
                <c:pt idx="6">
                  <c:v>00</c:v>
                </c:pt>
                <c:pt idx="7">
                  <c:v>01</c:v>
                </c:pt>
                <c:pt idx="8">
                  <c:v>02</c:v>
                </c:pt>
                <c:pt idx="9">
                  <c:v>03</c:v>
                </c:pt>
                <c:pt idx="10">
                  <c:v>04</c:v>
                </c:pt>
                <c:pt idx="11">
                  <c:v>05</c:v>
                </c:pt>
                <c:pt idx="12">
                  <c:v>06</c:v>
                </c:pt>
              </c:strCache>
            </c:strRef>
          </c:cat>
          <c:val>
            <c:numRef>
              <c:f>Sheet1!$B$2:$B$14</c:f>
              <c:numCache>
                <c:formatCode>General</c:formatCode>
                <c:ptCount val="13"/>
                <c:pt idx="0">
                  <c:v>12</c:v>
                </c:pt>
                <c:pt idx="1">
                  <c:v>18</c:v>
                </c:pt>
                <c:pt idx="2">
                  <c:v>28</c:v>
                </c:pt>
                <c:pt idx="3">
                  <c:v>60</c:v>
                </c:pt>
                <c:pt idx="4">
                  <c:v>68</c:v>
                </c:pt>
                <c:pt idx="5">
                  <c:v>72</c:v>
                </c:pt>
                <c:pt idx="6">
                  <c:v>74</c:v>
                </c:pt>
                <c:pt idx="7">
                  <c:v>71</c:v>
                </c:pt>
                <c:pt idx="8">
                  <c:v>65</c:v>
                </c:pt>
                <c:pt idx="9">
                  <c:v>61</c:v>
                </c:pt>
                <c:pt idx="10">
                  <c:v>30</c:v>
                </c:pt>
                <c:pt idx="11">
                  <c:v>15</c:v>
                </c:pt>
                <c:pt idx="12">
                  <c:v>10</c:v>
                </c:pt>
              </c:numCache>
            </c:numRef>
          </c:val>
          <c:smooth val="0"/>
          <c:extLst>
            <c:ext xmlns:c16="http://schemas.microsoft.com/office/drawing/2014/chart" uri="{C3380CC4-5D6E-409C-BE32-E72D297353CC}">
              <c16:uniqueId val="{00000000-676A-41AA-88FF-F552C29204F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1B1F3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DEEF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5A6482"/>
                </a:solidFill>
                <a:latin typeface="Arial"/>
              </a:defRPr>
            </a:pPr>
            <a:endParaRPr lang="en-US"/>
          </a:p>
        </c:txPr>
        <c:crossAx val="2094734554"/>
        <c:crosses val="autoZero"/>
        <c:crossBetween val="between"/>
      </c:valAx>
      <c:spPr>
        <a:noFill/>
        <a:ln w="12700" cap="flat">
          <a:solidFill>
            <a:srgbClr val="363636"/>
          </a:solid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0550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main conclusion is that I would not start by simply buying more captain acquisition. We have 22,561 matured signups but only 3,969 approvals, so there is already a large pool inside the funnel. RC and Fitness are the biggest leaks. Separately, airport supply is a real but highly concentrated problem, particularly from 9 PM to 3 AM. So my recommendation is to recover the existing funnel, validate WhatsApp causally, and fix airport utilization before scaling acquisition. (~1 min 15 sec)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thing I looked at was where captains disappear. RC is the largest absolute leak at 5,433 captains. Fitness loses another 4,481 and has a particularly interesting concentration: 54% of those drop-offs are e-rickshaws, and the pattern persists across cities. But I don't want to claim that verification failure is the cause, because most of these e-rickshaw drop-offs have no recorded verification failure. So I would investigate the workflow rather than assume the root cause. (~1 min 45 sec)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prioritize three actions. First, investigate and fix the Fitness workflow, especially for e-rickshaws — a 25% recovery scenario translates to roughly 578 approvals using the observed downstream conversion. Second, improve RC capture and recovery, roughly 371 approvals under the same scenario. Third, validate WhatsApp before scaling it — the number looks attractive, but I would not call the four-point uplift causal. If interrupted on 'why Fitness before RC': RC is the largest absolute leak so it's definitely a priority; Fitness gets first priority because the e-rickshaw concentration gives a stronger structural signal to investigate, and I would run RC recovery in parallel rather than wait for the Fitness diagnosis. (~1 min 45 sec)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campaign itself is healthy from an engagement perspective: 93% delivered and 41% clicked. Among RC-stage captains, exposed captains have 29.18% A2O versus 25.03% without WhatsApp. But this is an observational comparison. The right next step is a randomized holdout among eligible RC-stage captains. Interestingly, the signal is strongest in FOS and referral, while paid digital is almost flat, so I would also avoid applying one campaign strategy to every acquisition channel. (~1 min 30 sec)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airport analysis changed how I think about acquisition. Airport terminals have around 40% unfulfilled requests versus roughly 3% outside airports, so there is clearly a supply shortage. But it's concentrated: the worst period is roughly 9 PM to 3 AM. Then I looked at what happens after airport trips. 64% of trips don't get a return fare within 20 minutes, rising to 70% during the shortage window and 83% for suburban destinations. We don't have captain IDs here, so I treat return fare as a utilization proxy, not individual retention. But it suggests that simply adding captains may not solve the underlying economics. (~2 min)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were running Supply on Monday, I would not start with a broad acquisition campaign. Week one would be diagnosis: Fitness workflow, RC friction and the airport late-night problem. Weeks two and three would be controlled experiments across Fitness recovery, RC recovery and WhatsApp. In week four, I would scale only interventions that demonstrate incremental approved captains at an acceptable cost. The overall sequence is recover existing supply, fix airport economics, and then acquire specifically for whatever gap remains. (~1 min 15 sec)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02920" y="384048"/>
            <a:ext cx="4572000" cy="274320"/>
          </a:xfrm>
          <a:prstGeom prst="rect">
            <a:avLst/>
          </a:prstGeom>
          <a:noFill/>
          <a:ln/>
        </p:spPr>
        <p:txBody>
          <a:bodyPr wrap="square" lIns="0" tIns="0" rIns="0" bIns="0" rtlCol="0" anchor="ctr"/>
          <a:lstStyle/>
          <a:p>
            <a:pPr marL="0" indent="0">
              <a:buNone/>
            </a:pPr>
            <a:r>
              <a:rPr lang="en-US" sz="1100" b="1" kern="0" spc="200" dirty="0">
                <a:solidFill>
                  <a:srgbClr val="CADCFC"/>
                </a:solidFill>
                <a:latin typeface="Calibri" pitchFamily="34" charset="0"/>
                <a:ea typeface="Calibri" pitchFamily="34" charset="-122"/>
                <a:cs typeface="Calibri" pitchFamily="34" charset="-120"/>
              </a:rPr>
              <a:t>RAPIDO — CAPTAIN ACQUISITION &amp; SUPPLY</a:t>
            </a:r>
            <a:endParaRPr lang="en-US" sz="1100" dirty="0"/>
          </a:p>
        </p:txBody>
      </p:sp>
      <p:sp>
        <p:nvSpPr>
          <p:cNvPr id="3" name="Text 1"/>
          <p:cNvSpPr txBox="1"/>
          <p:nvPr/>
        </p:nvSpPr>
        <p:spPr>
          <a:xfrm>
            <a:off x="502920" y="685800"/>
            <a:ext cx="9601200" cy="1371600"/>
          </a:xfrm>
          <a:prstGeom prst="rect">
            <a:avLst/>
          </a:prstGeom>
          <a:noFill/>
          <a:ln/>
        </p:spPr>
        <p:txBody>
          <a:bodyPr wrap="square" lIns="0" tIns="0" rIns="0" bIns="0" rtlCol="0" anchor="ctr"/>
          <a:lstStyle/>
          <a:p>
            <a:pPr marL="0" indent="0">
              <a:lnSpc>
                <a:spcPct val="102000"/>
              </a:lnSpc>
              <a:buNone/>
            </a:pPr>
            <a:r>
              <a:rPr lang="en-US" sz="3000" b="1" dirty="0">
                <a:solidFill>
                  <a:srgbClr val="FFFFFF"/>
                </a:solidFill>
                <a:latin typeface="Cambria" pitchFamily="34" charset="0"/>
                <a:ea typeface="Cambria" pitchFamily="34" charset="-122"/>
                <a:cs typeface="Cambria" pitchFamily="34" charset="-120"/>
              </a:rPr>
              <a:t>Recover the funnel first; fix airport</a:t>
            </a:r>
            <a:endParaRPr lang="en-US" sz="3000" dirty="0"/>
          </a:p>
          <a:p>
            <a:pPr marL="0" indent="0">
              <a:lnSpc>
                <a:spcPct val="102000"/>
              </a:lnSpc>
              <a:buNone/>
            </a:pPr>
            <a:r>
              <a:rPr lang="en-US" sz="3000" b="1" dirty="0">
                <a:solidFill>
                  <a:srgbClr val="FFFFFF"/>
                </a:solidFill>
                <a:latin typeface="Cambria" pitchFamily="34" charset="0"/>
                <a:ea typeface="Cambria" pitchFamily="34" charset="-122"/>
                <a:cs typeface="Cambria" pitchFamily="34" charset="-120"/>
              </a:rPr>
              <a:t>economics before scaling acquisition</a:t>
            </a:r>
            <a:endParaRPr lang="en-US" sz="3000" dirty="0"/>
          </a:p>
        </p:txBody>
      </p:sp>
      <p:sp>
        <p:nvSpPr>
          <p:cNvPr id="4" name="Text 2"/>
          <p:cNvSpPr txBox="1"/>
          <p:nvPr/>
        </p:nvSpPr>
        <p:spPr>
          <a:xfrm>
            <a:off x="444366" y="1993392"/>
            <a:ext cx="9875520" cy="457200"/>
          </a:xfrm>
          <a:prstGeom prst="rect">
            <a:avLst/>
          </a:prstGeom>
          <a:noFill/>
          <a:ln/>
        </p:spPr>
        <p:txBody>
          <a:bodyPr wrap="square" lIns="0" tIns="0" rIns="0" bIns="0" rtlCol="0" anchor="ctr"/>
          <a:lstStyle/>
          <a:p>
            <a:r>
              <a:rPr lang="en-IN" sz="1400" dirty="0">
                <a:solidFill>
                  <a:schemeClr val="bg1"/>
                </a:solidFill>
              </a:rPr>
              <a:t>Supply is being lost inside onboarding, while airport shortages are concentrated in late-night hours.</a:t>
            </a:r>
            <a:r>
              <a:rPr lang="en-US" sz="1400" i="1" dirty="0">
                <a:solidFill>
                  <a:srgbClr val="CADCFC"/>
                </a:solidFill>
                <a:latin typeface="Calibri" pitchFamily="34" charset="0"/>
                <a:ea typeface="Calibri" pitchFamily="34" charset="-122"/>
                <a:cs typeface="Calibri" pitchFamily="34" charset="-120"/>
              </a:rPr>
              <a:t>.</a:t>
            </a:r>
            <a:endParaRPr lang="en-US" sz="1400" dirty="0"/>
          </a:p>
        </p:txBody>
      </p:sp>
      <p:sp>
        <p:nvSpPr>
          <p:cNvPr id="5" name="Shape 3"/>
          <p:cNvSpPr/>
          <p:nvPr/>
        </p:nvSpPr>
        <p:spPr>
          <a:xfrm>
            <a:off x="502920" y="2606040"/>
            <a:ext cx="3520440" cy="1417320"/>
          </a:xfrm>
          <a:prstGeom prst="roundRect">
            <a:avLst>
              <a:gd name="adj" fmla="val 5806"/>
            </a:avLst>
          </a:prstGeom>
          <a:solidFill>
            <a:srgbClr val="EEF3FD"/>
          </a:solidFill>
          <a:ln/>
          <a:effectLst>
            <a:outerShdw blurRad="101600" dist="38100" dir="5400000" algn="bl" rotWithShape="0">
              <a:srgbClr val="1E2761">
                <a:alpha val="18000"/>
              </a:srgbClr>
            </a:outerShdw>
          </a:effectLst>
        </p:spPr>
      </p:sp>
      <p:sp>
        <p:nvSpPr>
          <p:cNvPr id="6" name="Text 4"/>
          <p:cNvSpPr txBox="1"/>
          <p:nvPr/>
        </p:nvSpPr>
        <p:spPr>
          <a:xfrm>
            <a:off x="640080" y="2715768"/>
            <a:ext cx="3246120" cy="779526"/>
          </a:xfrm>
          <a:prstGeom prst="rect">
            <a:avLst/>
          </a:prstGeom>
          <a:noFill/>
          <a:ln/>
        </p:spPr>
        <p:txBody>
          <a:bodyPr wrap="square" lIns="0" tIns="0" rIns="0" bIns="0" rtlCol="0" anchor="b"/>
          <a:lstStyle/>
          <a:p>
            <a:pPr marL="0" indent="0" algn="l">
              <a:buNone/>
            </a:pPr>
            <a:r>
              <a:rPr lang="en-US" sz="3400" b="1" dirty="0">
                <a:solidFill>
                  <a:srgbClr val="1E2761"/>
                </a:solidFill>
                <a:latin typeface="Cambria" pitchFamily="34" charset="0"/>
                <a:ea typeface="Cambria" pitchFamily="34" charset="-122"/>
                <a:cs typeface="Cambria" pitchFamily="34" charset="-120"/>
              </a:rPr>
              <a:t>22,561</a:t>
            </a:r>
            <a:endParaRPr lang="en-US" sz="3400" dirty="0"/>
          </a:p>
        </p:txBody>
      </p:sp>
      <p:sp>
        <p:nvSpPr>
          <p:cNvPr id="7" name="Text 5"/>
          <p:cNvSpPr txBox="1"/>
          <p:nvPr/>
        </p:nvSpPr>
        <p:spPr>
          <a:xfrm>
            <a:off x="640080" y="3639312"/>
            <a:ext cx="3246120" cy="320040"/>
          </a:xfrm>
          <a:prstGeom prst="rect">
            <a:avLst/>
          </a:prstGeom>
          <a:noFill/>
          <a:ln/>
        </p:spPr>
        <p:txBody>
          <a:bodyPr wrap="square" lIns="0" tIns="0" rIns="0" bIns="0" rtlCol="0" anchor="t"/>
          <a:lstStyle/>
          <a:p>
            <a:pPr marL="0" indent="0">
              <a:buNone/>
            </a:pPr>
            <a:r>
              <a:rPr lang="en-US" sz="1150" dirty="0">
                <a:solidFill>
                  <a:srgbClr val="5A6482"/>
                </a:solidFill>
                <a:latin typeface="Calibri" pitchFamily="34" charset="0"/>
                <a:ea typeface="Calibri" pitchFamily="34" charset="-122"/>
                <a:cs typeface="Calibri" pitchFamily="34" charset="-120"/>
              </a:rPr>
              <a:t>Matured signups</a:t>
            </a:r>
            <a:endParaRPr lang="en-US" sz="1150" dirty="0"/>
          </a:p>
        </p:txBody>
      </p:sp>
      <p:sp>
        <p:nvSpPr>
          <p:cNvPr id="8" name="Shape 6"/>
          <p:cNvSpPr/>
          <p:nvPr/>
        </p:nvSpPr>
        <p:spPr>
          <a:xfrm>
            <a:off x="4160520" y="2606040"/>
            <a:ext cx="3520440" cy="1417320"/>
          </a:xfrm>
          <a:prstGeom prst="roundRect">
            <a:avLst>
              <a:gd name="adj" fmla="val 5806"/>
            </a:avLst>
          </a:prstGeom>
          <a:solidFill>
            <a:srgbClr val="EEF3FD"/>
          </a:solidFill>
          <a:ln/>
          <a:effectLst>
            <a:outerShdw blurRad="101600" dist="38100" dir="5400000" algn="bl" rotWithShape="0">
              <a:srgbClr val="1E2761">
                <a:alpha val="18000"/>
              </a:srgbClr>
            </a:outerShdw>
          </a:effectLst>
        </p:spPr>
      </p:sp>
      <p:sp>
        <p:nvSpPr>
          <p:cNvPr id="9" name="Text 7"/>
          <p:cNvSpPr txBox="1"/>
          <p:nvPr/>
        </p:nvSpPr>
        <p:spPr>
          <a:xfrm>
            <a:off x="4297680" y="2715768"/>
            <a:ext cx="3246120" cy="779526"/>
          </a:xfrm>
          <a:prstGeom prst="rect">
            <a:avLst/>
          </a:prstGeom>
          <a:noFill/>
          <a:ln/>
        </p:spPr>
        <p:txBody>
          <a:bodyPr wrap="square" lIns="0" tIns="0" rIns="0" bIns="0" rtlCol="0" anchor="b"/>
          <a:lstStyle/>
          <a:p>
            <a:pPr marL="0" indent="0" algn="l">
              <a:buNone/>
            </a:pPr>
            <a:r>
              <a:rPr lang="en-US" sz="3400" b="1" dirty="0">
                <a:solidFill>
                  <a:srgbClr val="1E2761"/>
                </a:solidFill>
                <a:latin typeface="Cambria" pitchFamily="34" charset="0"/>
                <a:ea typeface="Cambria" pitchFamily="34" charset="-122"/>
                <a:cs typeface="Cambria" pitchFamily="34" charset="-120"/>
              </a:rPr>
              <a:t>3,969</a:t>
            </a:r>
            <a:endParaRPr lang="en-US" sz="3400" dirty="0"/>
          </a:p>
        </p:txBody>
      </p:sp>
      <p:sp>
        <p:nvSpPr>
          <p:cNvPr id="10" name="Text 8"/>
          <p:cNvSpPr txBox="1"/>
          <p:nvPr/>
        </p:nvSpPr>
        <p:spPr>
          <a:xfrm>
            <a:off x="4297680" y="3639312"/>
            <a:ext cx="3246120" cy="320040"/>
          </a:xfrm>
          <a:prstGeom prst="rect">
            <a:avLst/>
          </a:prstGeom>
          <a:noFill/>
          <a:ln/>
        </p:spPr>
        <p:txBody>
          <a:bodyPr wrap="square" lIns="0" tIns="0" rIns="0" bIns="0" rtlCol="0" anchor="t"/>
          <a:lstStyle/>
          <a:p>
            <a:pPr marL="0" indent="0">
              <a:buNone/>
            </a:pPr>
            <a:r>
              <a:rPr lang="en-US" sz="1150" dirty="0">
                <a:solidFill>
                  <a:srgbClr val="5A6482"/>
                </a:solidFill>
                <a:latin typeface="Calibri" pitchFamily="34" charset="0"/>
                <a:ea typeface="Calibri" pitchFamily="34" charset="-122"/>
                <a:cs typeface="Calibri" pitchFamily="34" charset="-120"/>
              </a:rPr>
              <a:t>Approved captains</a:t>
            </a:r>
            <a:endParaRPr lang="en-US" sz="1150" dirty="0"/>
          </a:p>
        </p:txBody>
      </p:sp>
      <p:sp>
        <p:nvSpPr>
          <p:cNvPr id="11" name="Shape 9"/>
          <p:cNvSpPr/>
          <p:nvPr/>
        </p:nvSpPr>
        <p:spPr>
          <a:xfrm>
            <a:off x="7818120" y="2606040"/>
            <a:ext cx="3840480" cy="1417320"/>
          </a:xfrm>
          <a:prstGeom prst="roundRect">
            <a:avLst>
              <a:gd name="adj" fmla="val 5806"/>
            </a:avLst>
          </a:prstGeom>
          <a:solidFill>
            <a:srgbClr val="F96167"/>
          </a:solidFill>
          <a:ln/>
          <a:effectLst>
            <a:outerShdw blurRad="101600" dist="38100" dir="5400000" algn="bl" rotWithShape="0">
              <a:srgbClr val="1E2761">
                <a:alpha val="18000"/>
              </a:srgbClr>
            </a:outerShdw>
          </a:effectLst>
        </p:spPr>
      </p:sp>
      <p:sp>
        <p:nvSpPr>
          <p:cNvPr id="12" name="Text 10"/>
          <p:cNvSpPr txBox="1"/>
          <p:nvPr/>
        </p:nvSpPr>
        <p:spPr>
          <a:xfrm>
            <a:off x="7955280" y="2715768"/>
            <a:ext cx="3566160" cy="779526"/>
          </a:xfrm>
          <a:prstGeom prst="rect">
            <a:avLst/>
          </a:prstGeom>
          <a:noFill/>
          <a:ln/>
        </p:spPr>
        <p:txBody>
          <a:bodyPr wrap="square" lIns="0" tIns="0" rIns="0" bIns="0" rtlCol="0" anchor="b"/>
          <a:lstStyle/>
          <a:p>
            <a:pPr marL="0" indent="0" algn="l">
              <a:buNone/>
            </a:pPr>
            <a:r>
              <a:rPr lang="en-US" sz="3400" b="1" dirty="0">
                <a:solidFill>
                  <a:srgbClr val="FFFFFF"/>
                </a:solidFill>
                <a:latin typeface="Cambria" pitchFamily="34" charset="0"/>
                <a:ea typeface="Cambria" pitchFamily="34" charset="-122"/>
                <a:cs typeface="Cambria" pitchFamily="34" charset="-120"/>
              </a:rPr>
              <a:t>17.59%</a:t>
            </a:r>
            <a:endParaRPr lang="en-US" sz="3400" dirty="0"/>
          </a:p>
        </p:txBody>
      </p:sp>
      <p:sp>
        <p:nvSpPr>
          <p:cNvPr id="13" name="Text 11"/>
          <p:cNvSpPr txBox="1"/>
          <p:nvPr/>
        </p:nvSpPr>
        <p:spPr>
          <a:xfrm>
            <a:off x="7955280" y="3639312"/>
            <a:ext cx="3566160" cy="32004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Signup → Approval</a:t>
            </a:r>
            <a:endParaRPr lang="en-US" sz="1150" dirty="0"/>
          </a:p>
        </p:txBody>
      </p:sp>
      <p:sp>
        <p:nvSpPr>
          <p:cNvPr id="14" name="Shape 12"/>
          <p:cNvSpPr/>
          <p:nvPr/>
        </p:nvSpPr>
        <p:spPr>
          <a:xfrm>
            <a:off x="502920" y="4315968"/>
            <a:ext cx="384048" cy="384048"/>
          </a:xfrm>
          <a:prstGeom prst="ellipse">
            <a:avLst/>
          </a:prstGeom>
          <a:solidFill>
            <a:srgbClr val="F96167"/>
          </a:solidFill>
          <a:ln/>
        </p:spPr>
      </p:sp>
      <p:sp>
        <p:nvSpPr>
          <p:cNvPr id="15" name="Text 13"/>
          <p:cNvSpPr txBox="1"/>
          <p:nvPr/>
        </p:nvSpPr>
        <p:spPr>
          <a:xfrm>
            <a:off x="502920" y="43159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16" name="Text 14"/>
          <p:cNvSpPr txBox="1"/>
          <p:nvPr/>
        </p:nvSpPr>
        <p:spPr>
          <a:xfrm>
            <a:off x="1097280" y="4279392"/>
            <a:ext cx="3200400" cy="292608"/>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Fix onboarding</a:t>
            </a:r>
            <a:endParaRPr lang="en-US" sz="1450" dirty="0"/>
          </a:p>
        </p:txBody>
      </p:sp>
      <p:sp>
        <p:nvSpPr>
          <p:cNvPr id="17" name="Text 15"/>
          <p:cNvSpPr txBox="1"/>
          <p:nvPr/>
        </p:nvSpPr>
        <p:spPr>
          <a:xfrm>
            <a:off x="1097280" y="4562856"/>
            <a:ext cx="5120640" cy="27432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RC + Fitness are the biggest funnel leaks</a:t>
            </a:r>
            <a:endParaRPr lang="en-US" sz="1100" dirty="0"/>
          </a:p>
        </p:txBody>
      </p:sp>
      <p:sp>
        <p:nvSpPr>
          <p:cNvPr id="18" name="Text 16"/>
          <p:cNvSpPr txBox="1"/>
          <p:nvPr/>
        </p:nvSpPr>
        <p:spPr>
          <a:xfrm>
            <a:off x="6309360" y="4315968"/>
            <a:ext cx="534924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5,433 RC drop-offs   ·   4,481 Fitness drop-offs</a:t>
            </a:r>
            <a:endParaRPr lang="en-US" sz="1200" dirty="0"/>
          </a:p>
        </p:txBody>
      </p:sp>
      <p:sp>
        <p:nvSpPr>
          <p:cNvPr id="19" name="Shape 17"/>
          <p:cNvSpPr/>
          <p:nvPr/>
        </p:nvSpPr>
        <p:spPr>
          <a:xfrm>
            <a:off x="502920" y="4882896"/>
            <a:ext cx="384048" cy="384048"/>
          </a:xfrm>
          <a:prstGeom prst="ellipse">
            <a:avLst/>
          </a:prstGeom>
          <a:solidFill>
            <a:srgbClr val="F96167"/>
          </a:solidFill>
          <a:ln/>
        </p:spPr>
      </p:sp>
      <p:sp>
        <p:nvSpPr>
          <p:cNvPr id="20" name="Text 18"/>
          <p:cNvSpPr txBox="1"/>
          <p:nvPr/>
        </p:nvSpPr>
        <p:spPr>
          <a:xfrm>
            <a:off x="502920" y="48828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21" name="Text 19"/>
          <p:cNvSpPr txBox="1"/>
          <p:nvPr/>
        </p:nvSpPr>
        <p:spPr>
          <a:xfrm>
            <a:off x="1097280" y="4846320"/>
            <a:ext cx="3200400" cy="292608"/>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Validate WhatsApp</a:t>
            </a:r>
            <a:endParaRPr lang="en-US" sz="1450" dirty="0"/>
          </a:p>
        </p:txBody>
      </p:sp>
      <p:sp>
        <p:nvSpPr>
          <p:cNvPr id="22" name="Text 20"/>
          <p:cNvSpPr txBox="1"/>
          <p:nvPr/>
        </p:nvSpPr>
        <p:spPr>
          <a:xfrm>
            <a:off x="1097280" y="5129784"/>
            <a:ext cx="5120640" cy="27432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Positive signal, but not causal yet</a:t>
            </a:r>
            <a:endParaRPr lang="en-US" sz="1100" dirty="0"/>
          </a:p>
        </p:txBody>
      </p:sp>
      <p:sp>
        <p:nvSpPr>
          <p:cNvPr id="23" name="Text 21"/>
          <p:cNvSpPr txBox="1"/>
          <p:nvPr/>
        </p:nvSpPr>
        <p:spPr>
          <a:xfrm>
            <a:off x="6309360" y="4882896"/>
            <a:ext cx="534924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29.18% exposed A2O  vs  25.03% non-exposed   (+4.16 pp observed)</a:t>
            </a:r>
            <a:endParaRPr lang="en-US" sz="1200" dirty="0"/>
          </a:p>
        </p:txBody>
      </p:sp>
      <p:sp>
        <p:nvSpPr>
          <p:cNvPr id="24" name="Shape 22"/>
          <p:cNvSpPr/>
          <p:nvPr/>
        </p:nvSpPr>
        <p:spPr>
          <a:xfrm>
            <a:off x="502920" y="5449824"/>
            <a:ext cx="384048" cy="384048"/>
          </a:xfrm>
          <a:prstGeom prst="ellipse">
            <a:avLst/>
          </a:prstGeom>
          <a:solidFill>
            <a:srgbClr val="F96167"/>
          </a:solidFill>
          <a:ln/>
        </p:spPr>
      </p:sp>
      <p:sp>
        <p:nvSpPr>
          <p:cNvPr id="25" name="Text 23"/>
          <p:cNvSpPr txBox="1"/>
          <p:nvPr/>
        </p:nvSpPr>
        <p:spPr>
          <a:xfrm>
            <a:off x="502920" y="544982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03</a:t>
            </a:r>
            <a:endParaRPr lang="en-US" sz="1500" dirty="0"/>
          </a:p>
        </p:txBody>
      </p:sp>
      <p:sp>
        <p:nvSpPr>
          <p:cNvPr id="26" name="Text 24"/>
          <p:cNvSpPr txBox="1"/>
          <p:nvPr/>
        </p:nvSpPr>
        <p:spPr>
          <a:xfrm>
            <a:off x="1097280" y="5413248"/>
            <a:ext cx="3200400" cy="292608"/>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Fix airport utilization</a:t>
            </a:r>
            <a:endParaRPr lang="en-US" sz="1450" dirty="0"/>
          </a:p>
        </p:txBody>
      </p:sp>
      <p:sp>
        <p:nvSpPr>
          <p:cNvPr id="27" name="Text 25"/>
          <p:cNvSpPr txBox="1"/>
          <p:nvPr/>
        </p:nvSpPr>
        <p:spPr>
          <a:xfrm>
            <a:off x="1097280" y="5696712"/>
            <a:ext cx="5120640" cy="27432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Shortage is concentrated late night</a:t>
            </a:r>
            <a:endParaRPr lang="en-US" sz="1100" dirty="0"/>
          </a:p>
        </p:txBody>
      </p:sp>
      <p:sp>
        <p:nvSpPr>
          <p:cNvPr id="28" name="Text 26"/>
          <p:cNvSpPr txBox="1"/>
          <p:nvPr/>
        </p:nvSpPr>
        <p:spPr>
          <a:xfrm>
            <a:off x="6309360" y="5449824"/>
            <a:ext cx="534924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40.24% airport unfulfilled  vs  ~3% non-airport   ·   21:00–03:00 critical window</a:t>
            </a:r>
            <a:endParaRPr lang="en-US" sz="1200" dirty="0"/>
          </a:p>
        </p:txBody>
      </p:sp>
      <p:sp>
        <p:nvSpPr>
          <p:cNvPr id="29" name="Shape 27"/>
          <p:cNvSpPr/>
          <p:nvPr/>
        </p:nvSpPr>
        <p:spPr>
          <a:xfrm>
            <a:off x="502920" y="6172200"/>
            <a:ext cx="11155680" cy="548640"/>
          </a:xfrm>
          <a:prstGeom prst="roundRect">
            <a:avLst>
              <a:gd name="adj" fmla="val 13333"/>
            </a:avLst>
          </a:prstGeom>
          <a:solidFill>
            <a:srgbClr val="F96167"/>
          </a:solidFill>
          <a:ln/>
        </p:spPr>
      </p:sp>
      <p:sp>
        <p:nvSpPr>
          <p:cNvPr id="30" name="Text 28"/>
          <p:cNvSpPr txBox="1"/>
          <p:nvPr/>
        </p:nvSpPr>
        <p:spPr>
          <a:xfrm>
            <a:off x="685800" y="6172200"/>
            <a:ext cx="1078992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Recover existing funnel supply  →  fix late-night airport economics  →  then acquire selectively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2004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CAPTAIN ACQUISITION FUNNEL</a:t>
            </a:r>
            <a:endParaRPr lang="en-US" sz="1100" dirty="0"/>
          </a:p>
        </p:txBody>
      </p:sp>
      <p:sp>
        <p:nvSpPr>
          <p:cNvPr id="3" name="Text 1"/>
          <p:cNvSpPr txBox="1"/>
          <p:nvPr/>
        </p:nvSpPr>
        <p:spPr>
          <a:xfrm>
            <a:off x="502920" y="566928"/>
            <a:ext cx="7863840" cy="685800"/>
          </a:xfrm>
          <a:prstGeom prst="rect">
            <a:avLst/>
          </a:prstGeom>
          <a:noFill/>
          <a:ln/>
        </p:spPr>
        <p:txBody>
          <a:bodyPr wrap="square" lIns="0" tIns="0" rIns="0" bIns="0" rtlCol="0" anchor="ctr"/>
          <a:lstStyle/>
          <a:p>
            <a:r>
              <a:rPr lang="en-IN" sz="2400" b="1" dirty="0">
                <a:solidFill>
                  <a:srgbClr val="001642"/>
                </a:solidFill>
                <a:latin typeface="Cambria" panose="02040503050406030204" pitchFamily="18" charset="0"/>
                <a:ea typeface="Cambria" panose="02040503050406030204" pitchFamily="18" charset="0"/>
              </a:rPr>
              <a:t>Only 17.59% of matured signups reach approval</a:t>
            </a:r>
            <a:endParaRPr lang="en-US" sz="2400" b="1" dirty="0">
              <a:solidFill>
                <a:srgbClr val="001642"/>
              </a:solidFill>
              <a:latin typeface="Cambria" panose="02040503050406030204" pitchFamily="18" charset="0"/>
              <a:ea typeface="Cambria" panose="02040503050406030204" pitchFamily="18" charset="0"/>
            </a:endParaRPr>
          </a:p>
        </p:txBody>
      </p:sp>
      <p:sp>
        <p:nvSpPr>
          <p:cNvPr id="4" name="Text 2"/>
          <p:cNvSpPr txBox="1"/>
          <p:nvPr/>
        </p:nvSpPr>
        <p:spPr>
          <a:xfrm>
            <a:off x="502920" y="1261872"/>
            <a:ext cx="7863840" cy="457200"/>
          </a:xfrm>
          <a:prstGeom prst="rect">
            <a:avLst/>
          </a:prstGeom>
          <a:noFill/>
          <a:ln/>
        </p:spPr>
        <p:txBody>
          <a:bodyPr wrap="square" lIns="0" tIns="0" rIns="0" bIns="0" rtlCol="0" anchor="ctr"/>
          <a:lstStyle/>
          <a:p>
            <a:r>
              <a:rPr lang="en-IN" sz="1400" dirty="0">
                <a:solidFill>
                  <a:srgbClr val="001642"/>
                </a:solidFill>
              </a:rPr>
              <a:t>RC, Fitness and Insurance drive the largest absolute losses</a:t>
            </a:r>
            <a:r>
              <a:rPr lang="en-US" sz="1400" i="1" dirty="0">
                <a:solidFill>
                  <a:srgbClr val="5A6482"/>
                </a:solidFill>
                <a:latin typeface="Calibri" pitchFamily="34" charset="0"/>
                <a:ea typeface="Calibri" pitchFamily="34" charset="-122"/>
                <a:cs typeface="Calibri" pitchFamily="34" charset="-120"/>
              </a:rPr>
              <a:t>.</a:t>
            </a:r>
            <a:endParaRPr lang="en-US" sz="1400" dirty="0"/>
          </a:p>
        </p:txBody>
      </p:sp>
      <p:graphicFrame>
        <p:nvGraphicFramePr>
          <p:cNvPr id="5" name="Chart 0"/>
          <p:cNvGraphicFramePr/>
          <p:nvPr/>
        </p:nvGraphicFramePr>
        <p:xfrm>
          <a:off x="365760" y="1691640"/>
          <a:ext cx="777240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732520" y="1261872"/>
            <a:ext cx="2537460" cy="1051560"/>
          </a:xfrm>
          <a:prstGeom prst="roundRect">
            <a:avLst>
              <a:gd name="adj" fmla="val 12069"/>
            </a:avLst>
          </a:prstGeom>
          <a:solidFill>
            <a:srgbClr val="F96167"/>
          </a:solidFill>
          <a:ln/>
        </p:spPr>
      </p:sp>
      <p:sp>
        <p:nvSpPr>
          <p:cNvPr id="7" name="Text 4"/>
          <p:cNvSpPr txBox="1"/>
          <p:nvPr/>
        </p:nvSpPr>
        <p:spPr>
          <a:xfrm>
            <a:off x="8732520" y="1261872"/>
            <a:ext cx="2468880" cy="10515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−5,433  </a:t>
            </a:r>
            <a:r>
              <a:rPr lang="en-US" sz="1400" dirty="0">
                <a:solidFill>
                  <a:srgbClr val="FFFFFF"/>
                </a:solidFill>
                <a:latin typeface="Calibri" pitchFamily="34" charset="0"/>
                <a:ea typeface="Calibri" pitchFamily="34" charset="-122"/>
                <a:cs typeface="Calibri" pitchFamily="34" charset="-120"/>
              </a:rPr>
              <a:t>RC captains lost</a:t>
            </a:r>
            <a:endParaRPr lang="en-US" sz="1400" dirty="0"/>
          </a:p>
        </p:txBody>
      </p:sp>
      <p:sp>
        <p:nvSpPr>
          <p:cNvPr id="8" name="Shape 5"/>
          <p:cNvSpPr/>
          <p:nvPr/>
        </p:nvSpPr>
        <p:spPr>
          <a:xfrm>
            <a:off x="8766810" y="2619194"/>
            <a:ext cx="2537460" cy="1051559"/>
          </a:xfrm>
          <a:prstGeom prst="roundRect">
            <a:avLst>
              <a:gd name="adj" fmla="val 12069"/>
            </a:avLst>
          </a:prstGeom>
          <a:solidFill>
            <a:srgbClr val="F96167"/>
          </a:solidFill>
          <a:ln/>
        </p:spPr>
      </p:sp>
      <p:sp>
        <p:nvSpPr>
          <p:cNvPr id="9" name="Text 6"/>
          <p:cNvSpPr txBox="1"/>
          <p:nvPr/>
        </p:nvSpPr>
        <p:spPr>
          <a:xfrm>
            <a:off x="8766810" y="2619193"/>
            <a:ext cx="2468880" cy="1051559"/>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−4,481  </a:t>
            </a:r>
            <a:r>
              <a:rPr lang="en-US" sz="1400" dirty="0">
                <a:solidFill>
                  <a:srgbClr val="FFFFFF"/>
                </a:solidFill>
                <a:latin typeface="Calibri" pitchFamily="34" charset="0"/>
                <a:ea typeface="Calibri" pitchFamily="34" charset="-122"/>
                <a:cs typeface="Calibri" pitchFamily="34" charset="-120"/>
              </a:rPr>
              <a:t>Fitness captains lost</a:t>
            </a:r>
            <a:endParaRPr lang="en-US" sz="1400" dirty="0"/>
          </a:p>
        </p:txBody>
      </p:sp>
      <p:sp>
        <p:nvSpPr>
          <p:cNvPr id="10" name="Shape 7"/>
          <p:cNvSpPr/>
          <p:nvPr/>
        </p:nvSpPr>
        <p:spPr>
          <a:xfrm>
            <a:off x="8766810" y="3976513"/>
            <a:ext cx="2537460" cy="1051559"/>
          </a:xfrm>
          <a:prstGeom prst="roundRect">
            <a:avLst>
              <a:gd name="adj" fmla="val 12069"/>
            </a:avLst>
          </a:prstGeom>
          <a:solidFill>
            <a:srgbClr val="F96167"/>
          </a:solidFill>
          <a:ln/>
        </p:spPr>
      </p:sp>
      <p:sp>
        <p:nvSpPr>
          <p:cNvPr id="11" name="Text 8"/>
          <p:cNvSpPr txBox="1"/>
          <p:nvPr/>
        </p:nvSpPr>
        <p:spPr>
          <a:xfrm>
            <a:off x="8835390" y="3976512"/>
            <a:ext cx="2468880" cy="1051559"/>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−3,309  </a:t>
            </a:r>
            <a:r>
              <a:rPr lang="en-US" sz="1400" dirty="0">
                <a:solidFill>
                  <a:srgbClr val="FFFFFF"/>
                </a:solidFill>
                <a:latin typeface="Calibri" pitchFamily="34" charset="0"/>
                <a:ea typeface="Calibri" pitchFamily="34" charset="-122"/>
                <a:cs typeface="Calibri" pitchFamily="34" charset="-120"/>
              </a:rPr>
              <a:t>Insurance captains lost</a:t>
            </a:r>
            <a:endParaRPr lang="en-US" sz="1400" dirty="0"/>
          </a:p>
        </p:txBody>
      </p:sp>
      <p:sp>
        <p:nvSpPr>
          <p:cNvPr id="18" name="Shape 15"/>
          <p:cNvSpPr/>
          <p:nvPr/>
        </p:nvSpPr>
        <p:spPr>
          <a:xfrm>
            <a:off x="8412480" y="5166360"/>
            <a:ext cx="3246120" cy="1051560"/>
          </a:xfrm>
          <a:prstGeom prst="roundRect">
            <a:avLst>
              <a:gd name="adj" fmla="val 7826"/>
            </a:avLst>
          </a:prstGeom>
          <a:solidFill>
            <a:srgbClr val="1E2761"/>
          </a:solidFill>
          <a:ln/>
        </p:spPr>
      </p:sp>
      <p:sp>
        <p:nvSpPr>
          <p:cNvPr id="19" name="Text 16"/>
          <p:cNvSpPr txBox="1"/>
          <p:nvPr/>
        </p:nvSpPr>
        <p:spPr>
          <a:xfrm>
            <a:off x="8613648" y="5166360"/>
            <a:ext cx="2843784" cy="105156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The opportunity is not simply “more acquisition” — it is converting captains already acquired.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A4 RECOMMENDATIONS</a:t>
            </a:r>
            <a:endParaRPr lang="en-US" sz="1100" dirty="0"/>
          </a:p>
        </p:txBody>
      </p:sp>
      <p:sp>
        <p:nvSpPr>
          <p:cNvPr id="3" name="Text 1"/>
          <p:cNvSpPr txBox="1"/>
          <p:nvPr/>
        </p:nvSpPr>
        <p:spPr>
          <a:xfrm>
            <a:off x="502920" y="530352"/>
            <a:ext cx="10515600" cy="640080"/>
          </a:xfrm>
          <a:prstGeom prst="rect">
            <a:avLst/>
          </a:prstGeom>
          <a:noFill/>
          <a:ln/>
        </p:spPr>
        <p:txBody>
          <a:bodyPr wrap="square" lIns="0" tIns="0" rIns="0" bIns="0" rtlCol="0" anchor="ctr"/>
          <a:lstStyle/>
          <a:p>
            <a:pPr marL="0" indent="0">
              <a:lnSpc>
                <a:spcPct val="102000"/>
              </a:lnSpc>
              <a:buNone/>
            </a:pPr>
            <a:r>
              <a:rPr lang="en-US" sz="2400" b="1" dirty="0">
                <a:solidFill>
                  <a:srgbClr val="141B47"/>
                </a:solidFill>
                <a:latin typeface="Cambria" pitchFamily="34" charset="0"/>
                <a:ea typeface="Cambria" pitchFamily="34" charset="-122"/>
                <a:cs typeface="Cambria" pitchFamily="34" charset="-120"/>
              </a:rPr>
              <a:t>Prioritize recovery of captains already in the funnel</a:t>
            </a:r>
            <a:endParaRPr lang="en-US" sz="2400" dirty="0"/>
          </a:p>
        </p:txBody>
      </p:sp>
      <p:sp>
        <p:nvSpPr>
          <p:cNvPr id="4" name="Text 2"/>
          <p:cNvSpPr txBox="1"/>
          <p:nvPr/>
        </p:nvSpPr>
        <p:spPr>
          <a:xfrm>
            <a:off x="502920" y="1188720"/>
            <a:ext cx="10515600" cy="457200"/>
          </a:xfrm>
          <a:prstGeom prst="rect">
            <a:avLst/>
          </a:prstGeom>
          <a:noFill/>
          <a:ln/>
        </p:spPr>
        <p:txBody>
          <a:bodyPr wrap="square" lIns="0" tIns="0" rIns="0" bIns="0" rtlCol="0" anchor="ctr"/>
          <a:lstStyle/>
          <a:p>
            <a:pPr marL="0" indent="0">
              <a:buNone/>
            </a:pPr>
            <a:r>
              <a:rPr lang="en-US" sz="1400" i="1" dirty="0">
                <a:solidFill>
                  <a:srgbClr val="5A6482"/>
                </a:solidFill>
                <a:latin typeface="Calibri" pitchFamily="34" charset="0"/>
                <a:ea typeface="Calibri" pitchFamily="34" charset="-122"/>
                <a:cs typeface="Calibri" pitchFamily="34" charset="-120"/>
              </a:rPr>
              <a:t>Three interventions balance impact, evidence and execution risk.</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3384058141"/>
              </p:ext>
            </p:extLst>
          </p:nvPr>
        </p:nvGraphicFramePr>
        <p:xfrm>
          <a:off x="502920" y="1737360"/>
          <a:ext cx="11155680" cy="1371600"/>
        </p:xfrm>
        <a:graphic>
          <a:graphicData uri="http://schemas.openxmlformats.org/drawingml/2006/table">
            <a:tbl>
              <a:tblPr/>
              <a:tblGrid>
                <a:gridCol w="10058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429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42900">
                <a:tc>
                  <a:txBody>
                    <a:bodyPr/>
                    <a:lstStyle/>
                    <a:p>
                      <a:pPr marL="0" indent="0">
                        <a:buNone/>
                      </a:pPr>
                      <a:r>
                        <a:rPr lang="en-US" sz="1200" dirty="0">
                          <a:solidFill>
                            <a:srgbClr val="1B1F3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buNone/>
                      </a:pPr>
                      <a:r>
                        <a:rPr lang="en-US" sz="1200" dirty="0">
                          <a:solidFill>
                            <a:srgbClr val="1B1F3B"/>
                          </a:solidFill>
                          <a:latin typeface="Calibri" pitchFamily="34" charset="0"/>
                          <a:ea typeface="Calibri" pitchFamily="34" charset="-122"/>
                          <a:cs typeface="Calibri" pitchFamily="34" charset="-120"/>
                        </a:rPr>
                        <a:t>Fix Fitness workflow</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buNone/>
                      </a:pPr>
                      <a:r>
                        <a:rPr lang="en-US" sz="1200" dirty="0">
                          <a:solidFill>
                            <a:srgbClr val="1B1F3B"/>
                          </a:solidFill>
                          <a:latin typeface="Calibri" pitchFamily="34" charset="0"/>
                          <a:ea typeface="Calibri" pitchFamily="34" charset="-122"/>
                          <a:cs typeface="Calibri" pitchFamily="34" charset="-120"/>
                        </a:rPr>
                        <a:t>4,481 drop-offs; 54% e-rickshaw</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buNone/>
                      </a:pPr>
                      <a:r>
                        <a:rPr lang="en-US" sz="1200" dirty="0">
                          <a:solidFill>
                            <a:srgbClr val="1B1F3B"/>
                          </a:solidFill>
                          <a:latin typeface="Calibri" pitchFamily="34" charset="0"/>
                          <a:ea typeface="Calibri" pitchFamily="34" charset="-122"/>
                          <a:cs typeface="Calibri" pitchFamily="34" charset="-120"/>
                        </a:rPr>
                        <a:t>~578 approvals*</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extLst>
                  <a:ext uri="{0D108BD9-81ED-4DB2-BD59-A6C34878D82A}">
                    <a16:rowId xmlns:a16="http://schemas.microsoft.com/office/drawing/2014/main" val="10001"/>
                  </a:ext>
                </a:extLst>
              </a:tr>
              <a:tr h="342900">
                <a:tc>
                  <a:txBody>
                    <a:bodyPr/>
                    <a:lstStyle/>
                    <a:p>
                      <a:pPr marL="0" indent="0">
                        <a:buNone/>
                      </a:pPr>
                      <a:r>
                        <a:rPr lang="en-US" sz="1200" dirty="0">
                          <a:solidFill>
                            <a:srgbClr val="1B1F3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buNone/>
                      </a:pPr>
                      <a:r>
                        <a:rPr lang="en-US" sz="1200" dirty="0">
                          <a:solidFill>
                            <a:srgbClr val="1B1F3B"/>
                          </a:solidFill>
                          <a:latin typeface="Calibri" pitchFamily="34" charset="0"/>
                          <a:ea typeface="Calibri" pitchFamily="34" charset="-122"/>
                          <a:cs typeface="Calibri" pitchFamily="34" charset="-120"/>
                        </a:rPr>
                        <a:t>Improve RC capture &amp; recovery</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buNone/>
                      </a:pPr>
                      <a:r>
                        <a:rPr lang="en-US" sz="1200" dirty="0">
                          <a:solidFill>
                            <a:srgbClr val="1B1F3B"/>
                          </a:solidFill>
                          <a:latin typeface="Calibri" pitchFamily="34" charset="0"/>
                          <a:ea typeface="Calibri" pitchFamily="34" charset="-122"/>
                          <a:cs typeface="Calibri" pitchFamily="34" charset="-120"/>
                        </a:rPr>
                        <a:t>5,433 drop-offs; 2,128 quality/capture signals</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buNone/>
                      </a:pPr>
                      <a:r>
                        <a:rPr lang="en-US" sz="1200" dirty="0">
                          <a:solidFill>
                            <a:srgbClr val="1B1F3B"/>
                          </a:solidFill>
                          <a:latin typeface="Calibri" pitchFamily="34" charset="0"/>
                          <a:ea typeface="Calibri" pitchFamily="34" charset="-122"/>
                          <a:cs typeface="Calibri" pitchFamily="34" charset="-120"/>
                        </a:rPr>
                        <a:t>~371 approvals*</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extLst>
                  <a:ext uri="{0D108BD9-81ED-4DB2-BD59-A6C34878D82A}">
                    <a16:rowId xmlns:a16="http://schemas.microsoft.com/office/drawing/2014/main" val="10002"/>
                  </a:ext>
                </a:extLst>
              </a:tr>
              <a:tr h="342900">
                <a:tc>
                  <a:txBody>
                    <a:bodyPr/>
                    <a:lstStyle/>
                    <a:p>
                      <a:pPr marL="0" indent="0">
                        <a:buNone/>
                      </a:pPr>
                      <a:r>
                        <a:rPr lang="en-US" sz="1200" dirty="0">
                          <a:solidFill>
                            <a:srgbClr val="1B1F3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buNone/>
                      </a:pPr>
                      <a:r>
                        <a:rPr lang="en-US" sz="1200" dirty="0">
                          <a:solidFill>
                            <a:srgbClr val="1B1F3B"/>
                          </a:solidFill>
                          <a:latin typeface="Calibri" pitchFamily="34" charset="0"/>
                          <a:ea typeface="Calibri" pitchFamily="34" charset="-122"/>
                          <a:cs typeface="Calibri" pitchFamily="34" charset="-120"/>
                        </a:rPr>
                        <a:t>Validate WhatsApp</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buNone/>
                      </a:pPr>
                      <a:r>
                        <a:rPr lang="en-US" sz="1200" dirty="0">
                          <a:solidFill>
                            <a:srgbClr val="1B1F3B"/>
                          </a:solidFill>
                          <a:latin typeface="Calibri" pitchFamily="34" charset="0"/>
                          <a:ea typeface="Calibri" pitchFamily="34" charset="-122"/>
                          <a:cs typeface="Calibri" pitchFamily="34" charset="-120"/>
                        </a:rPr>
                        <a:t>+4.16 pp observed RC-stage difference</a:t>
                      </a:r>
                      <a:endParaRPr lang="en-US" sz="12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a:buNone/>
                      </a:pPr>
                      <a:r>
                        <a:rPr lang="en-IN" sz="1200" b="0" dirty="0">
                          <a:solidFill>
                            <a:srgbClr val="001642"/>
                          </a:solidFill>
                        </a:rPr>
                        <a:t>+4.16 pp if causal†</a:t>
                      </a: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extLst>
                  <a:ext uri="{0D108BD9-81ED-4DB2-BD59-A6C34878D82A}">
                    <a16:rowId xmlns:a16="http://schemas.microsoft.com/office/drawing/2014/main" val="10003"/>
                  </a:ext>
                </a:extLst>
              </a:tr>
            </a:tbl>
          </a:graphicData>
        </a:graphic>
      </p:graphicFrame>
      <p:sp>
        <p:nvSpPr>
          <p:cNvPr id="6" name="Shape 3"/>
          <p:cNvSpPr/>
          <p:nvPr/>
        </p:nvSpPr>
        <p:spPr>
          <a:xfrm>
            <a:off x="502920" y="3337560"/>
            <a:ext cx="3611880" cy="2331720"/>
          </a:xfrm>
          <a:prstGeom prst="roundRect">
            <a:avLst>
              <a:gd name="adj" fmla="val 3137"/>
            </a:avLst>
          </a:prstGeom>
          <a:solidFill>
            <a:srgbClr val="EEF3FD"/>
          </a:solidFill>
          <a:ln/>
        </p:spPr>
      </p:sp>
      <p:sp>
        <p:nvSpPr>
          <p:cNvPr id="7" name="Shape 4"/>
          <p:cNvSpPr/>
          <p:nvPr/>
        </p:nvSpPr>
        <p:spPr>
          <a:xfrm>
            <a:off x="685800" y="3520440"/>
            <a:ext cx="384048" cy="384048"/>
          </a:xfrm>
          <a:prstGeom prst="ellipse">
            <a:avLst/>
          </a:prstGeom>
          <a:solidFill>
            <a:srgbClr val="F96167"/>
          </a:solidFill>
          <a:ln/>
        </p:spPr>
      </p:sp>
      <p:sp>
        <p:nvSpPr>
          <p:cNvPr id="8" name="Text 5"/>
          <p:cNvSpPr txBox="1"/>
          <p:nvPr/>
        </p:nvSpPr>
        <p:spPr>
          <a:xfrm>
            <a:off x="685800" y="35204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9" name="Text 6"/>
          <p:cNvSpPr txBox="1"/>
          <p:nvPr/>
        </p:nvSpPr>
        <p:spPr>
          <a:xfrm>
            <a:off x="1188720" y="3520440"/>
            <a:ext cx="2697480" cy="38404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Fitness</a:t>
            </a:r>
            <a:endParaRPr lang="en-US" sz="1500" dirty="0"/>
          </a:p>
        </p:txBody>
      </p:sp>
      <p:sp>
        <p:nvSpPr>
          <p:cNvPr id="10" name="Text 7"/>
          <p:cNvSpPr txBox="1"/>
          <p:nvPr/>
        </p:nvSpPr>
        <p:spPr>
          <a:xfrm>
            <a:off x="731520" y="3977640"/>
            <a:ext cx="3154680" cy="256032"/>
          </a:xfrm>
          <a:prstGeom prst="rect">
            <a:avLst/>
          </a:prstGeom>
          <a:noFill/>
          <a:ln/>
        </p:spPr>
        <p:txBody>
          <a:bodyPr wrap="square" lIns="0" tIns="0" rIns="0" bIns="0" rtlCol="0" anchor="ctr"/>
          <a:lstStyle/>
          <a:p>
            <a:pPr marL="0" indent="0">
              <a:buNone/>
            </a:pPr>
            <a:r>
              <a:rPr lang="en-US" sz="1050" i="1" dirty="0">
                <a:solidFill>
                  <a:srgbClr val="5A6482"/>
                </a:solidFill>
                <a:latin typeface="Calibri" pitchFamily="34" charset="0"/>
                <a:ea typeface="Calibri" pitchFamily="34" charset="-122"/>
                <a:cs typeface="Calibri" pitchFamily="34" charset="-120"/>
              </a:rPr>
              <a:t>Do Monday:</a:t>
            </a:r>
            <a:endParaRPr lang="en-US" sz="1050" dirty="0"/>
          </a:p>
        </p:txBody>
      </p:sp>
      <p:sp>
        <p:nvSpPr>
          <p:cNvPr id="11" name="Text 8"/>
          <p:cNvSpPr txBox="1"/>
          <p:nvPr/>
        </p:nvSpPr>
        <p:spPr>
          <a:xfrm>
            <a:off x="731520" y="4224528"/>
            <a:ext cx="3154680" cy="1371600"/>
          </a:xfrm>
          <a:prstGeom prst="rect">
            <a:avLst/>
          </a:prstGeom>
          <a:noFill/>
          <a:ln/>
        </p:spPr>
        <p:txBody>
          <a:bodyPr wrap="square" lIns="0" tIns="0" rIns="0" bIns="0" rtlCol="0" anchor="ctr"/>
          <a:lstStyle/>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Audit e-rickshaw Fitness journey</a:t>
            </a:r>
            <a:endParaRPr lang="en-US" sz="1100" dirty="0"/>
          </a:p>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Identify missing vs failed vs operational cases</a:t>
            </a:r>
            <a:endParaRPr lang="en-US" sz="1100" dirty="0"/>
          </a:p>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Improve requirements + upload guidance</a:t>
            </a:r>
            <a:endParaRPr lang="en-US" sz="1100" dirty="0"/>
          </a:p>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Add recovery reminders</a:t>
            </a:r>
            <a:endParaRPr lang="en-US" sz="1100" dirty="0"/>
          </a:p>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Run controlled recovery test</a:t>
            </a:r>
            <a:endParaRPr lang="en-US" sz="1100" dirty="0"/>
          </a:p>
        </p:txBody>
      </p:sp>
      <p:sp>
        <p:nvSpPr>
          <p:cNvPr id="12" name="Shape 9"/>
          <p:cNvSpPr/>
          <p:nvPr/>
        </p:nvSpPr>
        <p:spPr>
          <a:xfrm>
            <a:off x="4274820" y="3337560"/>
            <a:ext cx="3611880" cy="2331720"/>
          </a:xfrm>
          <a:prstGeom prst="roundRect">
            <a:avLst>
              <a:gd name="adj" fmla="val 3137"/>
            </a:avLst>
          </a:prstGeom>
          <a:solidFill>
            <a:srgbClr val="EEF3FD"/>
          </a:solidFill>
          <a:ln/>
        </p:spPr>
      </p:sp>
      <p:sp>
        <p:nvSpPr>
          <p:cNvPr id="13" name="Shape 10"/>
          <p:cNvSpPr/>
          <p:nvPr/>
        </p:nvSpPr>
        <p:spPr>
          <a:xfrm>
            <a:off x="4457700" y="3520440"/>
            <a:ext cx="384048" cy="384048"/>
          </a:xfrm>
          <a:prstGeom prst="ellipse">
            <a:avLst/>
          </a:prstGeom>
          <a:solidFill>
            <a:srgbClr val="F96167"/>
          </a:solidFill>
          <a:ln/>
        </p:spPr>
      </p:sp>
      <p:sp>
        <p:nvSpPr>
          <p:cNvPr id="14" name="Text 11"/>
          <p:cNvSpPr txBox="1"/>
          <p:nvPr/>
        </p:nvSpPr>
        <p:spPr>
          <a:xfrm>
            <a:off x="4457700" y="35204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15" name="Text 12"/>
          <p:cNvSpPr txBox="1"/>
          <p:nvPr/>
        </p:nvSpPr>
        <p:spPr>
          <a:xfrm>
            <a:off x="4960620" y="3520440"/>
            <a:ext cx="2697480" cy="38404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RC</a:t>
            </a:r>
            <a:endParaRPr lang="en-US" sz="1500" dirty="0"/>
          </a:p>
        </p:txBody>
      </p:sp>
      <p:sp>
        <p:nvSpPr>
          <p:cNvPr id="16" name="Text 13"/>
          <p:cNvSpPr txBox="1"/>
          <p:nvPr/>
        </p:nvSpPr>
        <p:spPr>
          <a:xfrm>
            <a:off x="4503420" y="3977640"/>
            <a:ext cx="3154680" cy="256032"/>
          </a:xfrm>
          <a:prstGeom prst="rect">
            <a:avLst/>
          </a:prstGeom>
          <a:noFill/>
          <a:ln/>
        </p:spPr>
        <p:txBody>
          <a:bodyPr wrap="square" lIns="0" tIns="0" rIns="0" bIns="0" rtlCol="0" anchor="ctr"/>
          <a:lstStyle/>
          <a:p>
            <a:pPr marL="0" indent="0">
              <a:buNone/>
            </a:pPr>
            <a:r>
              <a:rPr lang="en-US" sz="1050" i="1" dirty="0">
                <a:solidFill>
                  <a:srgbClr val="5A6482"/>
                </a:solidFill>
                <a:latin typeface="Calibri" pitchFamily="34" charset="0"/>
                <a:ea typeface="Calibri" pitchFamily="34" charset="-122"/>
                <a:cs typeface="Calibri" pitchFamily="34" charset="-120"/>
              </a:rPr>
              <a:t>Do Monday:</a:t>
            </a:r>
            <a:endParaRPr lang="en-US" sz="1050" dirty="0"/>
          </a:p>
        </p:txBody>
      </p:sp>
      <p:sp>
        <p:nvSpPr>
          <p:cNvPr id="17" name="Text 14"/>
          <p:cNvSpPr txBox="1"/>
          <p:nvPr/>
        </p:nvSpPr>
        <p:spPr>
          <a:xfrm>
            <a:off x="4503420" y="4224528"/>
            <a:ext cx="3154680" cy="1371600"/>
          </a:xfrm>
          <a:prstGeom prst="rect">
            <a:avLst/>
          </a:prstGeom>
          <a:noFill/>
          <a:ln/>
        </p:spPr>
        <p:txBody>
          <a:bodyPr wrap="square" lIns="0" tIns="0" rIns="0" bIns="0" rtlCol="0" anchor="ctr"/>
          <a:lstStyle/>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Real-time image-quality checks</a:t>
            </a:r>
            <a:endParaRPr lang="en-US" sz="1100" dirty="0"/>
          </a:p>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Actionable verification feedback</a:t>
            </a:r>
            <a:endParaRPr lang="en-US" sz="1100" dirty="0"/>
          </a:p>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Better capture instructions</a:t>
            </a:r>
            <a:endParaRPr lang="en-US" sz="1100" dirty="0"/>
          </a:p>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Targeted recovery reminders</a:t>
            </a:r>
            <a:endParaRPr lang="en-US" sz="1100" dirty="0"/>
          </a:p>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Segment by device tier</a:t>
            </a:r>
            <a:endParaRPr lang="en-US" sz="1100" dirty="0"/>
          </a:p>
        </p:txBody>
      </p:sp>
      <p:sp>
        <p:nvSpPr>
          <p:cNvPr id="18" name="Shape 15"/>
          <p:cNvSpPr/>
          <p:nvPr/>
        </p:nvSpPr>
        <p:spPr>
          <a:xfrm>
            <a:off x="8046720" y="3337560"/>
            <a:ext cx="3611880" cy="2331720"/>
          </a:xfrm>
          <a:prstGeom prst="roundRect">
            <a:avLst>
              <a:gd name="adj" fmla="val 3137"/>
            </a:avLst>
          </a:prstGeom>
          <a:solidFill>
            <a:srgbClr val="EEF3FD"/>
          </a:solidFill>
          <a:ln/>
        </p:spPr>
      </p:sp>
      <p:sp>
        <p:nvSpPr>
          <p:cNvPr id="19" name="Shape 16"/>
          <p:cNvSpPr/>
          <p:nvPr/>
        </p:nvSpPr>
        <p:spPr>
          <a:xfrm>
            <a:off x="8229600" y="3520440"/>
            <a:ext cx="384048" cy="384048"/>
          </a:xfrm>
          <a:prstGeom prst="ellipse">
            <a:avLst/>
          </a:prstGeom>
          <a:solidFill>
            <a:srgbClr val="F96167"/>
          </a:solidFill>
          <a:ln/>
        </p:spPr>
      </p:sp>
      <p:sp>
        <p:nvSpPr>
          <p:cNvPr id="20" name="Text 17"/>
          <p:cNvSpPr txBox="1"/>
          <p:nvPr/>
        </p:nvSpPr>
        <p:spPr>
          <a:xfrm>
            <a:off x="8229600" y="35204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03</a:t>
            </a:r>
            <a:endParaRPr lang="en-US" sz="1500" dirty="0"/>
          </a:p>
        </p:txBody>
      </p:sp>
      <p:sp>
        <p:nvSpPr>
          <p:cNvPr id="21" name="Text 18"/>
          <p:cNvSpPr txBox="1"/>
          <p:nvPr/>
        </p:nvSpPr>
        <p:spPr>
          <a:xfrm>
            <a:off x="8732520" y="3520440"/>
            <a:ext cx="2697480" cy="38404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WhatsApp</a:t>
            </a:r>
            <a:endParaRPr lang="en-US" sz="1500" dirty="0"/>
          </a:p>
        </p:txBody>
      </p:sp>
      <p:sp>
        <p:nvSpPr>
          <p:cNvPr id="22" name="Text 19"/>
          <p:cNvSpPr txBox="1"/>
          <p:nvPr/>
        </p:nvSpPr>
        <p:spPr>
          <a:xfrm>
            <a:off x="8275320" y="3977640"/>
            <a:ext cx="3154680" cy="256032"/>
          </a:xfrm>
          <a:prstGeom prst="rect">
            <a:avLst/>
          </a:prstGeom>
          <a:noFill/>
          <a:ln/>
        </p:spPr>
        <p:txBody>
          <a:bodyPr wrap="square" lIns="0" tIns="0" rIns="0" bIns="0" rtlCol="0" anchor="ctr"/>
          <a:lstStyle/>
          <a:p>
            <a:pPr marL="0" indent="0">
              <a:buNone/>
            </a:pPr>
            <a:r>
              <a:rPr lang="en-US" sz="1050" i="1" dirty="0">
                <a:solidFill>
                  <a:srgbClr val="5A6482"/>
                </a:solidFill>
                <a:latin typeface="Calibri" pitchFamily="34" charset="0"/>
                <a:ea typeface="Calibri" pitchFamily="34" charset="-122"/>
                <a:cs typeface="Calibri" pitchFamily="34" charset="-120"/>
              </a:rPr>
              <a:t>Do Monday:</a:t>
            </a:r>
            <a:endParaRPr lang="en-US" sz="1050" dirty="0"/>
          </a:p>
        </p:txBody>
      </p:sp>
      <p:sp>
        <p:nvSpPr>
          <p:cNvPr id="23" name="Text 20"/>
          <p:cNvSpPr txBox="1"/>
          <p:nvPr/>
        </p:nvSpPr>
        <p:spPr>
          <a:xfrm>
            <a:off x="8275320" y="4224528"/>
            <a:ext cx="3154680" cy="1371600"/>
          </a:xfrm>
          <a:prstGeom prst="rect">
            <a:avLst/>
          </a:prstGeom>
          <a:noFill/>
          <a:ln/>
        </p:spPr>
        <p:txBody>
          <a:bodyPr wrap="square" lIns="0" tIns="0" rIns="0" bIns="0" rtlCol="0" anchor="ctr"/>
          <a:lstStyle/>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Randomized RC-stage holdout</a:t>
            </a:r>
            <a:endParaRPr lang="en-US" sz="1100" dirty="0"/>
          </a:p>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WhatsApp vs no WhatsApp</a:t>
            </a:r>
            <a:endParaRPr lang="en-US" sz="1100" dirty="0"/>
          </a:p>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Test 48–72h timing</a:t>
            </a:r>
            <a:endParaRPr lang="en-US" sz="1100" dirty="0"/>
          </a:p>
          <a:p>
            <a:pPr marL="152400" indent="-152400">
              <a:spcAft>
                <a:spcPts val="400"/>
              </a:spcAft>
              <a:buSzPct val="100000"/>
              <a:buChar char="•"/>
            </a:pPr>
            <a:r>
              <a:rPr lang="en-US" sz="1100" dirty="0">
                <a:solidFill>
                  <a:srgbClr val="1B1F3B"/>
                </a:solidFill>
                <a:latin typeface="Calibri" pitchFamily="34" charset="0"/>
                <a:ea typeface="Calibri" pitchFamily="34" charset="-122"/>
                <a:cs typeface="Calibri" pitchFamily="34" charset="-120"/>
              </a:rPr>
              <a:t>Measure incremental A2O + cost</a:t>
            </a:r>
            <a:endParaRPr lang="en-US" sz="1100" dirty="0"/>
          </a:p>
        </p:txBody>
      </p:sp>
      <p:sp>
        <p:nvSpPr>
          <p:cNvPr id="24" name="Text 21"/>
          <p:cNvSpPr txBox="1"/>
          <p:nvPr/>
        </p:nvSpPr>
        <p:spPr>
          <a:xfrm>
            <a:off x="502920" y="5779008"/>
            <a:ext cx="11155680" cy="274320"/>
          </a:xfrm>
          <a:prstGeom prst="rect">
            <a:avLst/>
          </a:prstGeom>
          <a:noFill/>
          <a:ln/>
        </p:spPr>
        <p:txBody>
          <a:bodyPr wrap="square" lIns="0" tIns="0" rIns="0" bIns="0" rtlCol="0" anchor="ctr"/>
          <a:lstStyle/>
          <a:p>
            <a:pPr marL="0" indent="0">
              <a:buNone/>
            </a:pPr>
            <a:r>
              <a:rPr lang="en-US" sz="900" i="1" dirty="0">
                <a:solidFill>
                  <a:srgbClr val="5A6482"/>
                </a:solidFill>
                <a:latin typeface="Calibri" pitchFamily="34" charset="0"/>
                <a:ea typeface="Calibri" pitchFamily="34" charset="-122"/>
                <a:cs typeface="Calibri" pitchFamily="34" charset="-120"/>
              </a:rPr>
              <a:t>*25% recovery scenario × observed downstream conversion; not a causal forecast.   †Illustrative scenario only; requires randomized validation.</a:t>
            </a:r>
            <a:endParaRPr lang="en-US" sz="900" dirty="0"/>
          </a:p>
        </p:txBody>
      </p:sp>
      <p:sp>
        <p:nvSpPr>
          <p:cNvPr id="25" name="Shape 22"/>
          <p:cNvSpPr/>
          <p:nvPr/>
        </p:nvSpPr>
        <p:spPr>
          <a:xfrm>
            <a:off x="502920" y="6108192"/>
            <a:ext cx="11155680" cy="530352"/>
          </a:xfrm>
          <a:prstGeom prst="roundRect">
            <a:avLst>
              <a:gd name="adj" fmla="val 13793"/>
            </a:avLst>
          </a:prstGeom>
          <a:solidFill>
            <a:srgbClr val="F96167"/>
          </a:solidFill>
          <a:ln/>
        </p:spPr>
      </p:sp>
      <p:sp>
        <p:nvSpPr>
          <p:cNvPr id="26" name="Text 23"/>
          <p:cNvSpPr txBox="1"/>
          <p:nvPr/>
        </p:nvSpPr>
        <p:spPr>
          <a:xfrm>
            <a:off x="502920" y="6108192"/>
            <a:ext cx="11155680" cy="530352"/>
          </a:xfrm>
          <a:prstGeom prst="rect">
            <a:avLst/>
          </a:prstGeom>
          <a:noFill/>
          <a:ln/>
        </p:spPr>
        <p:txBody>
          <a:bodyPr wrap="square" lIns="0" tIns="0" rIns="0" bIns="0"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Do not optimize for “more signups.” Optimize for “more approved captains.”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CAMP_WA_002</a:t>
            </a:r>
            <a:endParaRPr lang="en-US" sz="1100" dirty="0"/>
          </a:p>
        </p:txBody>
      </p:sp>
      <p:sp>
        <p:nvSpPr>
          <p:cNvPr id="3" name="Text 1"/>
          <p:cNvSpPr txBox="1"/>
          <p:nvPr/>
        </p:nvSpPr>
        <p:spPr>
          <a:xfrm>
            <a:off x="502920" y="530352"/>
            <a:ext cx="10515600" cy="640080"/>
          </a:xfrm>
          <a:prstGeom prst="rect">
            <a:avLst/>
          </a:prstGeom>
          <a:noFill/>
          <a:ln/>
        </p:spPr>
        <p:txBody>
          <a:bodyPr wrap="square" lIns="0" tIns="0" rIns="0" bIns="0" rtlCol="0" anchor="ctr"/>
          <a:lstStyle/>
          <a:p>
            <a:r>
              <a:rPr lang="en-IN" sz="2400" b="1" dirty="0">
                <a:solidFill>
                  <a:srgbClr val="001642"/>
                </a:solidFill>
                <a:latin typeface="Cambria" panose="02040503050406030204" pitchFamily="18" charset="0"/>
                <a:ea typeface="Cambria" panose="02040503050406030204" pitchFamily="18" charset="0"/>
              </a:rPr>
              <a:t>WhatsApp shows promise — but incremental impact is not yet proven</a:t>
            </a:r>
            <a:endParaRPr lang="en-US" sz="2300" b="1" dirty="0">
              <a:solidFill>
                <a:srgbClr val="001642"/>
              </a:solidFill>
              <a:latin typeface="Cambria" panose="02040503050406030204" pitchFamily="18" charset="0"/>
              <a:ea typeface="Cambria" panose="02040503050406030204" pitchFamily="18" charset="0"/>
            </a:endParaRPr>
          </a:p>
        </p:txBody>
      </p:sp>
      <p:sp>
        <p:nvSpPr>
          <p:cNvPr id="4" name="Text 2"/>
          <p:cNvSpPr txBox="1"/>
          <p:nvPr/>
        </p:nvSpPr>
        <p:spPr>
          <a:xfrm>
            <a:off x="502920" y="1170432"/>
            <a:ext cx="10515600" cy="457200"/>
          </a:xfrm>
          <a:prstGeom prst="rect">
            <a:avLst/>
          </a:prstGeom>
          <a:noFill/>
          <a:ln/>
        </p:spPr>
        <p:txBody>
          <a:bodyPr wrap="square" lIns="0" tIns="0" rIns="0" bIns="0" rtlCol="0" anchor="ctr"/>
          <a:lstStyle/>
          <a:p>
            <a:pPr marL="0" indent="0">
              <a:buNone/>
            </a:pPr>
            <a:r>
              <a:rPr lang="en-US" sz="1400" i="1" dirty="0">
                <a:solidFill>
                  <a:srgbClr val="5A6482"/>
                </a:solidFill>
                <a:latin typeface="Calibri" pitchFamily="34" charset="0"/>
                <a:ea typeface="Calibri" pitchFamily="34" charset="-122"/>
                <a:cs typeface="Calibri" pitchFamily="34" charset="-120"/>
              </a:rPr>
              <a:t>Strong engagement; incremental impact still needs causal validation.</a:t>
            </a:r>
            <a:endParaRPr lang="en-US" sz="1400" dirty="0"/>
          </a:p>
        </p:txBody>
      </p:sp>
      <p:sp>
        <p:nvSpPr>
          <p:cNvPr id="5" name="Shape 3"/>
          <p:cNvSpPr/>
          <p:nvPr/>
        </p:nvSpPr>
        <p:spPr>
          <a:xfrm>
            <a:off x="502920" y="1691640"/>
            <a:ext cx="2331720" cy="1051560"/>
          </a:xfrm>
          <a:prstGeom prst="roundRect">
            <a:avLst>
              <a:gd name="adj" fmla="val 7826"/>
            </a:avLst>
          </a:prstGeom>
          <a:solidFill>
            <a:srgbClr val="EEF3FD"/>
          </a:solidFill>
          <a:ln/>
          <a:effectLst>
            <a:outerShdw blurRad="101600" dist="38100" dir="5400000" algn="bl" rotWithShape="0">
              <a:srgbClr val="1E2761">
                <a:alpha val="18000"/>
              </a:srgbClr>
            </a:outerShdw>
          </a:effectLst>
        </p:spPr>
      </p:sp>
      <p:sp>
        <p:nvSpPr>
          <p:cNvPr id="6" name="Text 4"/>
          <p:cNvSpPr txBox="1"/>
          <p:nvPr/>
        </p:nvSpPr>
        <p:spPr>
          <a:xfrm>
            <a:off x="640080" y="1801368"/>
            <a:ext cx="2057400" cy="578358"/>
          </a:xfrm>
          <a:prstGeom prst="rect">
            <a:avLst/>
          </a:prstGeom>
          <a:noFill/>
          <a:ln/>
        </p:spPr>
        <p:txBody>
          <a:bodyPr wrap="square" lIns="0" tIns="0" rIns="0" bIns="0" rtlCol="0" anchor="b"/>
          <a:lstStyle/>
          <a:p>
            <a:pPr marL="0" indent="0" algn="l">
              <a:buNone/>
            </a:pPr>
            <a:r>
              <a:rPr lang="en-US" sz="2400" b="1" dirty="0">
                <a:solidFill>
                  <a:srgbClr val="1E2761"/>
                </a:solidFill>
                <a:latin typeface="Cambria" pitchFamily="34" charset="0"/>
                <a:ea typeface="Cambria" pitchFamily="34" charset="-122"/>
                <a:cs typeface="Cambria" pitchFamily="34" charset="-120"/>
              </a:rPr>
              <a:t>8,673</a:t>
            </a:r>
            <a:endParaRPr lang="en-US" sz="2400" dirty="0"/>
          </a:p>
        </p:txBody>
      </p:sp>
      <p:sp>
        <p:nvSpPr>
          <p:cNvPr id="7" name="Text 5"/>
          <p:cNvSpPr txBox="1"/>
          <p:nvPr/>
        </p:nvSpPr>
        <p:spPr>
          <a:xfrm>
            <a:off x="640080" y="2359152"/>
            <a:ext cx="2057400" cy="320040"/>
          </a:xfrm>
          <a:prstGeom prst="rect">
            <a:avLst/>
          </a:prstGeom>
          <a:noFill/>
          <a:ln/>
        </p:spPr>
        <p:txBody>
          <a:bodyPr wrap="square" lIns="0" tIns="0" rIns="0" bIns="0" rtlCol="0" anchor="t"/>
          <a:lstStyle/>
          <a:p>
            <a:pPr marL="0" indent="0">
              <a:buNone/>
            </a:pPr>
            <a:r>
              <a:rPr lang="en-US" sz="1150" dirty="0">
                <a:solidFill>
                  <a:srgbClr val="5A6482"/>
                </a:solidFill>
                <a:latin typeface="Calibri" pitchFamily="34" charset="0"/>
                <a:ea typeface="Calibri" pitchFamily="34" charset="-122"/>
                <a:cs typeface="Calibri" pitchFamily="34" charset="-120"/>
              </a:rPr>
              <a:t>WA sends</a:t>
            </a:r>
            <a:endParaRPr lang="en-US" sz="1150" dirty="0"/>
          </a:p>
        </p:txBody>
      </p:sp>
      <p:sp>
        <p:nvSpPr>
          <p:cNvPr id="8" name="Shape 6"/>
          <p:cNvSpPr/>
          <p:nvPr/>
        </p:nvSpPr>
        <p:spPr>
          <a:xfrm>
            <a:off x="2926080" y="1691640"/>
            <a:ext cx="2331720" cy="1051560"/>
          </a:xfrm>
          <a:prstGeom prst="roundRect">
            <a:avLst>
              <a:gd name="adj" fmla="val 7826"/>
            </a:avLst>
          </a:prstGeom>
          <a:solidFill>
            <a:srgbClr val="EEF3FD"/>
          </a:solidFill>
          <a:ln/>
          <a:effectLst>
            <a:outerShdw blurRad="101600" dist="38100" dir="5400000" algn="bl" rotWithShape="0">
              <a:srgbClr val="1E2761">
                <a:alpha val="18000"/>
              </a:srgbClr>
            </a:outerShdw>
          </a:effectLst>
        </p:spPr>
      </p:sp>
      <p:sp>
        <p:nvSpPr>
          <p:cNvPr id="9" name="Text 7"/>
          <p:cNvSpPr txBox="1"/>
          <p:nvPr/>
        </p:nvSpPr>
        <p:spPr>
          <a:xfrm>
            <a:off x="3063240" y="1801368"/>
            <a:ext cx="2057400" cy="578358"/>
          </a:xfrm>
          <a:prstGeom prst="rect">
            <a:avLst/>
          </a:prstGeom>
          <a:noFill/>
          <a:ln/>
        </p:spPr>
        <p:txBody>
          <a:bodyPr wrap="square" lIns="0" tIns="0" rIns="0" bIns="0" rtlCol="0" anchor="b"/>
          <a:lstStyle/>
          <a:p>
            <a:pPr marL="0" indent="0" algn="l">
              <a:buNone/>
            </a:pPr>
            <a:r>
              <a:rPr lang="en-US" sz="2400" b="1" dirty="0">
                <a:solidFill>
                  <a:srgbClr val="1E2761"/>
                </a:solidFill>
                <a:latin typeface="Cambria" pitchFamily="34" charset="0"/>
                <a:ea typeface="Cambria" pitchFamily="34" charset="-122"/>
                <a:cs typeface="Cambria" pitchFamily="34" charset="-120"/>
              </a:rPr>
              <a:t>92.91%</a:t>
            </a:r>
            <a:endParaRPr lang="en-US" sz="2400" dirty="0"/>
          </a:p>
        </p:txBody>
      </p:sp>
      <p:sp>
        <p:nvSpPr>
          <p:cNvPr id="10" name="Text 8"/>
          <p:cNvSpPr txBox="1"/>
          <p:nvPr/>
        </p:nvSpPr>
        <p:spPr>
          <a:xfrm>
            <a:off x="3063240" y="2359152"/>
            <a:ext cx="2057400" cy="320040"/>
          </a:xfrm>
          <a:prstGeom prst="rect">
            <a:avLst/>
          </a:prstGeom>
          <a:noFill/>
          <a:ln/>
        </p:spPr>
        <p:txBody>
          <a:bodyPr wrap="square" lIns="0" tIns="0" rIns="0" bIns="0" rtlCol="0" anchor="t"/>
          <a:lstStyle/>
          <a:p>
            <a:pPr marL="0" indent="0">
              <a:buNone/>
            </a:pPr>
            <a:r>
              <a:rPr lang="en-US" sz="1150" dirty="0">
                <a:solidFill>
                  <a:srgbClr val="5A6482"/>
                </a:solidFill>
                <a:latin typeface="Calibri" pitchFamily="34" charset="0"/>
                <a:ea typeface="Calibri" pitchFamily="34" charset="-122"/>
                <a:cs typeface="Calibri" pitchFamily="34" charset="-120"/>
              </a:rPr>
              <a:t>Delivery</a:t>
            </a:r>
            <a:endParaRPr lang="en-US" sz="1150" dirty="0"/>
          </a:p>
        </p:txBody>
      </p:sp>
      <p:sp>
        <p:nvSpPr>
          <p:cNvPr id="11" name="Shape 9"/>
          <p:cNvSpPr/>
          <p:nvPr/>
        </p:nvSpPr>
        <p:spPr>
          <a:xfrm>
            <a:off x="5349240" y="1691640"/>
            <a:ext cx="2331720" cy="1051560"/>
          </a:xfrm>
          <a:prstGeom prst="roundRect">
            <a:avLst>
              <a:gd name="adj" fmla="val 7826"/>
            </a:avLst>
          </a:prstGeom>
          <a:solidFill>
            <a:srgbClr val="EEF3FD"/>
          </a:solidFill>
          <a:ln/>
          <a:effectLst>
            <a:outerShdw blurRad="101600" dist="38100" dir="5400000" algn="bl" rotWithShape="0">
              <a:srgbClr val="1E2761">
                <a:alpha val="18000"/>
              </a:srgbClr>
            </a:outerShdw>
          </a:effectLst>
        </p:spPr>
      </p:sp>
      <p:sp>
        <p:nvSpPr>
          <p:cNvPr id="12" name="Text 10"/>
          <p:cNvSpPr txBox="1"/>
          <p:nvPr/>
        </p:nvSpPr>
        <p:spPr>
          <a:xfrm>
            <a:off x="5486400" y="1801368"/>
            <a:ext cx="2057400" cy="578358"/>
          </a:xfrm>
          <a:prstGeom prst="rect">
            <a:avLst/>
          </a:prstGeom>
          <a:noFill/>
          <a:ln/>
        </p:spPr>
        <p:txBody>
          <a:bodyPr wrap="square" lIns="0" tIns="0" rIns="0" bIns="0" rtlCol="0" anchor="b"/>
          <a:lstStyle/>
          <a:p>
            <a:pPr marL="0" indent="0" algn="l">
              <a:buNone/>
            </a:pPr>
            <a:r>
              <a:rPr lang="en-US" sz="2400" b="1" dirty="0">
                <a:solidFill>
                  <a:srgbClr val="1E2761"/>
                </a:solidFill>
                <a:latin typeface="Cambria" pitchFamily="34" charset="0"/>
                <a:ea typeface="Cambria" pitchFamily="34" charset="-122"/>
                <a:cs typeface="Cambria" pitchFamily="34" charset="-120"/>
              </a:rPr>
              <a:t>41.15%</a:t>
            </a:r>
            <a:endParaRPr lang="en-US" sz="2400" dirty="0"/>
          </a:p>
        </p:txBody>
      </p:sp>
      <p:sp>
        <p:nvSpPr>
          <p:cNvPr id="13" name="Text 11"/>
          <p:cNvSpPr txBox="1"/>
          <p:nvPr/>
        </p:nvSpPr>
        <p:spPr>
          <a:xfrm>
            <a:off x="5486400" y="2359152"/>
            <a:ext cx="2057400" cy="320040"/>
          </a:xfrm>
          <a:prstGeom prst="rect">
            <a:avLst/>
          </a:prstGeom>
          <a:noFill/>
          <a:ln/>
        </p:spPr>
        <p:txBody>
          <a:bodyPr wrap="square" lIns="0" tIns="0" rIns="0" bIns="0" rtlCol="0" anchor="t"/>
          <a:lstStyle/>
          <a:p>
            <a:pPr marL="0" indent="0">
              <a:buNone/>
            </a:pPr>
            <a:r>
              <a:rPr lang="en-US" sz="1150" dirty="0">
                <a:solidFill>
                  <a:srgbClr val="5A6482"/>
                </a:solidFill>
                <a:latin typeface="Calibri" pitchFamily="34" charset="0"/>
                <a:ea typeface="Calibri" pitchFamily="34" charset="-122"/>
                <a:cs typeface="Calibri" pitchFamily="34" charset="-120"/>
              </a:rPr>
              <a:t>Click rate</a:t>
            </a:r>
            <a:endParaRPr lang="en-US" sz="1150" dirty="0"/>
          </a:p>
        </p:txBody>
      </p:sp>
      <p:sp>
        <p:nvSpPr>
          <p:cNvPr id="14" name="Text 12"/>
          <p:cNvSpPr txBox="1"/>
          <p:nvPr/>
        </p:nvSpPr>
        <p:spPr>
          <a:xfrm>
            <a:off x="502920" y="2926080"/>
            <a:ext cx="7406640" cy="292608"/>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RC-stage Signup → Approval</a:t>
            </a:r>
            <a:endParaRPr lang="en-US" sz="1350" dirty="0"/>
          </a:p>
        </p:txBody>
      </p:sp>
      <p:graphicFrame>
        <p:nvGraphicFramePr>
          <p:cNvPr id="15" name="Chart 0"/>
          <p:cNvGraphicFramePr/>
          <p:nvPr/>
        </p:nvGraphicFramePr>
        <p:xfrm>
          <a:off x="365760" y="3246120"/>
          <a:ext cx="758952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txBox="1"/>
          <p:nvPr/>
        </p:nvSpPr>
        <p:spPr>
          <a:xfrm>
            <a:off x="365760" y="5257800"/>
            <a:ext cx="36576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+4.16 pp observed</a:t>
            </a:r>
            <a:endParaRPr lang="en-US" sz="1300" dirty="0"/>
          </a:p>
        </p:txBody>
      </p:sp>
      <p:sp>
        <p:nvSpPr>
          <p:cNvPr id="17" name="Text 14"/>
          <p:cNvSpPr txBox="1"/>
          <p:nvPr/>
        </p:nvSpPr>
        <p:spPr>
          <a:xfrm>
            <a:off x="365760" y="5532120"/>
            <a:ext cx="3657600" cy="256032"/>
          </a:xfrm>
          <a:prstGeom prst="rect">
            <a:avLst/>
          </a:prstGeom>
          <a:noFill/>
          <a:ln/>
        </p:spPr>
        <p:txBody>
          <a:bodyPr wrap="square" lIns="0" tIns="0" rIns="0" bIns="0" rtlCol="0" anchor="ctr"/>
          <a:lstStyle/>
          <a:p>
            <a:pPr marL="0" indent="0">
              <a:buNone/>
            </a:pPr>
            <a:r>
              <a:rPr lang="en-US" sz="1000" b="1" kern="0" spc="150" dirty="0">
                <a:solidFill>
                  <a:srgbClr val="5A6482"/>
                </a:solidFill>
                <a:latin typeface="Calibri" pitchFamily="34" charset="0"/>
                <a:ea typeface="Calibri" pitchFamily="34" charset="-122"/>
                <a:cs typeface="Calibri" pitchFamily="34" charset="-120"/>
              </a:rPr>
              <a:t>OBSERVATIONAL</a:t>
            </a:r>
            <a:endParaRPr lang="en-US" sz="1000" dirty="0"/>
          </a:p>
        </p:txBody>
      </p:sp>
      <p:sp>
        <p:nvSpPr>
          <p:cNvPr id="18" name="Text 15"/>
          <p:cNvSpPr txBox="1"/>
          <p:nvPr/>
        </p:nvSpPr>
        <p:spPr>
          <a:xfrm>
            <a:off x="8366760" y="1691640"/>
            <a:ext cx="3291840" cy="292608"/>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Where is the signal strongest?</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366760" y="2029968"/>
          <a:ext cx="3291840" cy="1828800"/>
        </p:xfrm>
        <a:graphic>
          <a:graphicData uri="http://schemas.openxmlformats.org/drawingml/2006/table">
            <a:tbl>
              <a:tblPr/>
              <a:tblGrid>
                <a:gridCol w="1828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048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Channel</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1E2761"/>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Diff</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04800">
                <a:tc>
                  <a:txBody>
                    <a:bodyPr/>
                    <a:lstStyle/>
                    <a:p>
                      <a:pPr marL="0" indent="0">
                        <a:buNone/>
                      </a:pPr>
                      <a:r>
                        <a:rPr lang="en-US" sz="1100" dirty="0">
                          <a:solidFill>
                            <a:srgbClr val="1B1F3B"/>
                          </a:solidFill>
                          <a:latin typeface="Calibri" pitchFamily="34" charset="0"/>
                          <a:ea typeface="Calibri" pitchFamily="34" charset="-122"/>
                          <a:cs typeface="Calibri" pitchFamily="34" charset="-120"/>
                        </a:rPr>
                        <a:t>FOS</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lgn="r">
                        <a:buNone/>
                      </a:pPr>
                      <a:r>
                        <a:rPr lang="en-US" sz="1100" dirty="0">
                          <a:solidFill>
                            <a:srgbClr val="1B1F3B"/>
                          </a:solidFill>
                          <a:latin typeface="Calibri" pitchFamily="34" charset="0"/>
                          <a:ea typeface="Calibri" pitchFamily="34" charset="-122"/>
                          <a:cs typeface="Calibri" pitchFamily="34" charset="-120"/>
                        </a:rPr>
                        <a:t>+5.35 pp</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extLst>
                  <a:ext uri="{0D108BD9-81ED-4DB2-BD59-A6C34878D82A}">
                    <a16:rowId xmlns:a16="http://schemas.microsoft.com/office/drawing/2014/main" val="10001"/>
                  </a:ext>
                </a:extLst>
              </a:tr>
              <a:tr h="304800">
                <a:tc>
                  <a:txBody>
                    <a:bodyPr/>
                    <a:lstStyle/>
                    <a:p>
                      <a:pPr marL="0" indent="0">
                        <a:buNone/>
                      </a:pPr>
                      <a:r>
                        <a:rPr lang="en-US" sz="1100" dirty="0">
                          <a:solidFill>
                            <a:srgbClr val="1B1F3B"/>
                          </a:solidFill>
                          <a:latin typeface="Calibri" pitchFamily="34" charset="0"/>
                          <a:ea typeface="Calibri" pitchFamily="34" charset="-122"/>
                          <a:cs typeface="Calibri" pitchFamily="34" charset="-120"/>
                        </a:rPr>
                        <a:t>Referral</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lgn="r">
                        <a:buNone/>
                      </a:pPr>
                      <a:r>
                        <a:rPr lang="en-US" sz="1100" dirty="0">
                          <a:solidFill>
                            <a:srgbClr val="1B1F3B"/>
                          </a:solidFill>
                          <a:latin typeface="Calibri" pitchFamily="34" charset="0"/>
                          <a:ea typeface="Calibri" pitchFamily="34" charset="-122"/>
                          <a:cs typeface="Calibri" pitchFamily="34" charset="-120"/>
                        </a:rPr>
                        <a:t>+5.02 pp</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extLst>
                  <a:ext uri="{0D108BD9-81ED-4DB2-BD59-A6C34878D82A}">
                    <a16:rowId xmlns:a16="http://schemas.microsoft.com/office/drawing/2014/main" val="10002"/>
                  </a:ext>
                </a:extLst>
              </a:tr>
              <a:tr h="304800">
                <a:tc>
                  <a:txBody>
                    <a:bodyPr/>
                    <a:lstStyle/>
                    <a:p>
                      <a:pPr marL="0" indent="0">
                        <a:buNone/>
                      </a:pPr>
                      <a:r>
                        <a:rPr lang="en-US" sz="1100" dirty="0">
                          <a:solidFill>
                            <a:srgbClr val="1B1F3B"/>
                          </a:solidFill>
                          <a:latin typeface="Calibri" pitchFamily="34" charset="0"/>
                          <a:ea typeface="Calibri" pitchFamily="34" charset="-122"/>
                          <a:cs typeface="Calibri" pitchFamily="34" charset="-120"/>
                        </a:rPr>
                        <a:t>Organic</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lgn="r">
                        <a:buNone/>
                      </a:pPr>
                      <a:r>
                        <a:rPr lang="en-US" sz="1100" dirty="0">
                          <a:solidFill>
                            <a:srgbClr val="1B1F3B"/>
                          </a:solidFill>
                          <a:latin typeface="Calibri" pitchFamily="34" charset="0"/>
                          <a:ea typeface="Calibri" pitchFamily="34" charset="-122"/>
                          <a:cs typeface="Calibri" pitchFamily="34" charset="-120"/>
                        </a:rPr>
                        <a:t>+3.97 pp</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extLst>
                  <a:ext uri="{0D108BD9-81ED-4DB2-BD59-A6C34878D82A}">
                    <a16:rowId xmlns:a16="http://schemas.microsoft.com/office/drawing/2014/main" val="10003"/>
                  </a:ext>
                </a:extLst>
              </a:tr>
              <a:tr h="304800">
                <a:tc>
                  <a:txBody>
                    <a:bodyPr/>
                    <a:lstStyle/>
                    <a:p>
                      <a:pPr marL="0" indent="0">
                        <a:buNone/>
                      </a:pPr>
                      <a:r>
                        <a:rPr lang="en-US" sz="1100" dirty="0">
                          <a:solidFill>
                            <a:srgbClr val="1B1F3B"/>
                          </a:solidFill>
                          <a:latin typeface="Calibri" pitchFamily="34" charset="0"/>
                          <a:ea typeface="Calibri" pitchFamily="34" charset="-122"/>
                          <a:cs typeface="Calibri" pitchFamily="34" charset="-120"/>
                        </a:rPr>
                        <a:t>Telecalling</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lgn="r">
                        <a:buNone/>
                      </a:pPr>
                      <a:r>
                        <a:rPr lang="en-US" sz="1100" dirty="0">
                          <a:solidFill>
                            <a:srgbClr val="1B1F3B"/>
                          </a:solidFill>
                          <a:latin typeface="Calibri" pitchFamily="34" charset="0"/>
                          <a:ea typeface="Calibri" pitchFamily="34" charset="-122"/>
                          <a:cs typeface="Calibri" pitchFamily="34" charset="-120"/>
                        </a:rPr>
                        <a:t>+3.85 pp</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extLst>
                  <a:ext uri="{0D108BD9-81ED-4DB2-BD59-A6C34878D82A}">
                    <a16:rowId xmlns:a16="http://schemas.microsoft.com/office/drawing/2014/main" val="10004"/>
                  </a:ext>
                </a:extLst>
              </a:tr>
              <a:tr h="304800">
                <a:tc>
                  <a:txBody>
                    <a:bodyPr/>
                    <a:lstStyle/>
                    <a:p>
                      <a:pPr marL="0" indent="0">
                        <a:buNone/>
                      </a:pPr>
                      <a:r>
                        <a:rPr lang="en-US" sz="1100" dirty="0">
                          <a:solidFill>
                            <a:srgbClr val="1B1F3B"/>
                          </a:solidFill>
                          <a:latin typeface="Calibri" pitchFamily="34" charset="0"/>
                          <a:ea typeface="Calibri" pitchFamily="34" charset="-122"/>
                          <a:cs typeface="Calibri" pitchFamily="34" charset="-120"/>
                        </a:rPr>
                        <a:t>Paid Digital</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tc>
                  <a:txBody>
                    <a:bodyPr/>
                    <a:lstStyle/>
                    <a:p>
                      <a:pPr marL="0" indent="0" algn="r">
                        <a:buNone/>
                      </a:pPr>
                      <a:r>
                        <a:rPr lang="en-US" sz="1100" dirty="0">
                          <a:solidFill>
                            <a:srgbClr val="1B1F3B"/>
                          </a:solidFill>
                          <a:latin typeface="Calibri" pitchFamily="34" charset="0"/>
                          <a:ea typeface="Calibri" pitchFamily="34" charset="-122"/>
                          <a:cs typeface="Calibri" pitchFamily="34" charset="-120"/>
                        </a:rPr>
                        <a:t>+0.36 pp</a:t>
                      </a:r>
                      <a:endParaRPr lang="en-US" sz="11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EF3FD"/>
                    </a:solidFill>
                  </a:tcPr>
                </a:tc>
                <a:extLst>
                  <a:ext uri="{0D108BD9-81ED-4DB2-BD59-A6C34878D82A}">
                    <a16:rowId xmlns:a16="http://schemas.microsoft.com/office/drawing/2014/main" val="10005"/>
                  </a:ext>
                </a:extLst>
              </a:tr>
            </a:tbl>
          </a:graphicData>
        </a:graphic>
      </p:graphicFrame>
      <p:sp>
        <p:nvSpPr>
          <p:cNvPr id="20" name="Shape 16"/>
          <p:cNvSpPr/>
          <p:nvPr/>
        </p:nvSpPr>
        <p:spPr>
          <a:xfrm>
            <a:off x="8366760" y="4023360"/>
            <a:ext cx="3291840" cy="1783080"/>
          </a:xfrm>
          <a:prstGeom prst="roundRect">
            <a:avLst>
              <a:gd name="adj" fmla="val 4103"/>
            </a:avLst>
          </a:prstGeom>
          <a:solidFill>
            <a:srgbClr val="1E2761"/>
          </a:solidFill>
          <a:ln/>
        </p:spPr>
      </p:sp>
      <p:sp>
        <p:nvSpPr>
          <p:cNvPr id="21" name="Text 17"/>
          <p:cNvSpPr txBox="1"/>
          <p:nvPr/>
        </p:nvSpPr>
        <p:spPr>
          <a:xfrm>
            <a:off x="8595360" y="4133088"/>
            <a:ext cx="2834640" cy="237744"/>
          </a:xfrm>
          <a:prstGeom prst="rect">
            <a:avLst/>
          </a:prstGeom>
          <a:noFill/>
          <a:ln/>
        </p:spPr>
        <p:txBody>
          <a:bodyPr wrap="square" lIns="0" tIns="0" rIns="0" bIns="0" rtlCol="0" anchor="ctr"/>
          <a:lstStyle/>
          <a:p>
            <a:pPr marL="0" indent="0">
              <a:buNone/>
            </a:pPr>
            <a:r>
              <a:rPr lang="en-US" sz="1000" b="1" kern="0" spc="150" dirty="0">
                <a:solidFill>
                  <a:srgbClr val="F96167"/>
                </a:solidFill>
                <a:latin typeface="Calibri" pitchFamily="34" charset="0"/>
                <a:ea typeface="Calibri" pitchFamily="34" charset="-122"/>
                <a:cs typeface="Calibri" pitchFamily="34" charset="-120"/>
              </a:rPr>
              <a:t>NEXT TEST</a:t>
            </a:r>
            <a:endParaRPr lang="en-US" sz="1000" dirty="0"/>
          </a:p>
        </p:txBody>
      </p:sp>
      <p:sp>
        <p:nvSpPr>
          <p:cNvPr id="22" name="Text 18"/>
          <p:cNvSpPr txBox="1"/>
          <p:nvPr/>
        </p:nvSpPr>
        <p:spPr>
          <a:xfrm>
            <a:off x="8595360" y="4370832"/>
            <a:ext cx="2834640" cy="310896"/>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Randomized RC-stage holdout</a:t>
            </a:r>
            <a:endParaRPr lang="en-US" sz="1300" dirty="0"/>
          </a:p>
        </p:txBody>
      </p:sp>
      <p:sp>
        <p:nvSpPr>
          <p:cNvPr id="23" name="Text 19"/>
          <p:cNvSpPr txBox="1"/>
          <p:nvPr/>
        </p:nvSpPr>
        <p:spPr>
          <a:xfrm>
            <a:off x="8595360" y="4718304"/>
            <a:ext cx="2834640" cy="4572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Eligible captains  →  WhatsApp / Control  →  Incremental A2O</a:t>
            </a:r>
            <a:endParaRPr lang="en-US" sz="1050" dirty="0"/>
          </a:p>
        </p:txBody>
      </p:sp>
      <p:sp>
        <p:nvSpPr>
          <p:cNvPr id="24" name="Text 20"/>
          <p:cNvSpPr txBox="1"/>
          <p:nvPr/>
        </p:nvSpPr>
        <p:spPr>
          <a:xfrm>
            <a:off x="8595360" y="5138928"/>
            <a:ext cx="2834640" cy="621792"/>
          </a:xfrm>
          <a:prstGeom prst="rect">
            <a:avLst/>
          </a:prstGeom>
          <a:noFill/>
          <a:ln/>
        </p:spPr>
        <p:txBody>
          <a:bodyPr wrap="square" lIns="0" tIns="0" rIns="0" bIns="0" rtlCol="0" anchor="ctr"/>
          <a:lstStyle/>
          <a:p>
            <a:pPr marL="0" indent="0">
              <a:lnSpc>
                <a:spcPct val="115000"/>
              </a:lnSpc>
              <a:buNone/>
            </a:pPr>
            <a:r>
              <a:rPr lang="en-US" sz="1000" b="1" dirty="0">
                <a:solidFill>
                  <a:srgbClr val="FFFFFF"/>
                </a:solidFill>
                <a:latin typeface="Calibri" pitchFamily="34" charset="0"/>
                <a:ea typeface="Calibri" pitchFamily="34" charset="-122"/>
                <a:cs typeface="Calibri" pitchFamily="34" charset="-120"/>
              </a:rPr>
              <a:t>Test timing: </a:t>
            </a:r>
            <a:r>
              <a:rPr lang="en-US" sz="1000" dirty="0">
                <a:solidFill>
                  <a:srgbClr val="FFFFFF"/>
                </a:solidFill>
                <a:latin typeface="Calibri" pitchFamily="34" charset="0"/>
                <a:ea typeface="Calibri" pitchFamily="34" charset="-122"/>
                <a:cs typeface="Calibri" pitchFamily="34" charset="-120"/>
              </a:rPr>
              <a:t>48–72 hours
</a:t>
            </a:r>
            <a:r>
              <a:rPr lang="en-US" sz="1000" b="1" dirty="0">
                <a:solidFill>
                  <a:srgbClr val="FFFFFF"/>
                </a:solidFill>
                <a:latin typeface="Calibri" pitchFamily="34" charset="0"/>
                <a:ea typeface="Calibri" pitchFamily="34" charset="-122"/>
                <a:cs typeface="Calibri" pitchFamily="34" charset="-120"/>
              </a:rPr>
              <a:t>Primary: </a:t>
            </a:r>
            <a:r>
              <a:rPr lang="en-US" sz="1000" dirty="0">
                <a:solidFill>
                  <a:srgbClr val="FFFFFF"/>
                </a:solidFill>
                <a:latin typeface="Calibri" pitchFamily="34" charset="0"/>
                <a:ea typeface="Calibri" pitchFamily="34" charset="-122"/>
                <a:cs typeface="Calibri" pitchFamily="34" charset="-120"/>
              </a:rPr>
              <a:t>Incremental A2O
</a:t>
            </a:r>
            <a:r>
              <a:rPr lang="en-US" sz="1000" b="1" dirty="0">
                <a:solidFill>
                  <a:srgbClr val="FFFFFF"/>
                </a:solidFill>
                <a:latin typeface="Calibri" pitchFamily="34" charset="0"/>
                <a:ea typeface="Calibri" pitchFamily="34" charset="-122"/>
                <a:cs typeface="Calibri" pitchFamily="34" charset="-120"/>
              </a:rPr>
              <a:t>Secondary: </a:t>
            </a:r>
            <a:r>
              <a:rPr lang="en-US" sz="1000" dirty="0">
                <a:solidFill>
                  <a:srgbClr val="FFFFFF"/>
                </a:solidFill>
                <a:latin typeface="Calibri" pitchFamily="34" charset="0"/>
                <a:ea typeface="Calibri" pitchFamily="34" charset="-122"/>
                <a:cs typeface="Calibri" pitchFamily="34" charset="-120"/>
              </a:rPr>
              <a:t>Cost / incremental approved captain</a:t>
            </a:r>
            <a:endParaRPr lang="en-US" sz="1000" dirty="0"/>
          </a:p>
        </p:txBody>
      </p:sp>
      <p:sp>
        <p:nvSpPr>
          <p:cNvPr id="25" name="Shape 21"/>
          <p:cNvSpPr/>
          <p:nvPr/>
        </p:nvSpPr>
        <p:spPr>
          <a:xfrm>
            <a:off x="502920" y="6108192"/>
            <a:ext cx="11155680" cy="530352"/>
          </a:xfrm>
          <a:prstGeom prst="roundRect">
            <a:avLst>
              <a:gd name="adj" fmla="val 13793"/>
            </a:avLst>
          </a:prstGeom>
          <a:solidFill>
            <a:srgbClr val="F96167"/>
          </a:solidFill>
          <a:ln/>
        </p:spPr>
      </p:sp>
      <p:sp>
        <p:nvSpPr>
          <p:cNvPr id="26" name="Text 22"/>
          <p:cNvSpPr txBox="1"/>
          <p:nvPr/>
        </p:nvSpPr>
        <p:spPr>
          <a:xfrm>
            <a:off x="502920" y="6108192"/>
            <a:ext cx="11155680" cy="530352"/>
          </a:xfrm>
          <a:prstGeom prst="rect">
            <a:avLst/>
          </a:prstGeom>
          <a:noFill/>
          <a:ln/>
        </p:spPr>
        <p:txBody>
          <a:bodyPr wrap="square" lIns="0" tIns="0" rIns="0" bIns="0" rtlCol="0" anchor="ctr"/>
          <a:lstStyle/>
          <a:p>
            <a:pPr marL="0" indent="0" algn="ctr">
              <a:buNone/>
            </a:pPr>
            <a:r>
              <a:rPr lang="en-US" sz="1450" b="1" dirty="0">
                <a:solidFill>
                  <a:srgbClr val="FFFFFF"/>
                </a:solidFill>
                <a:latin typeface="Cambria" pitchFamily="34" charset="0"/>
                <a:ea typeface="Cambria" pitchFamily="34" charset="-122"/>
                <a:cs typeface="Cambria" pitchFamily="34" charset="-120"/>
              </a:rPr>
              <a:t>Do not blindly scale 5× across every acquisition channel.</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74320"/>
            <a:ext cx="457200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AIRPORT SUPPLY</a:t>
            </a:r>
            <a:endParaRPr lang="en-US" sz="1100" dirty="0"/>
          </a:p>
        </p:txBody>
      </p:sp>
      <p:sp>
        <p:nvSpPr>
          <p:cNvPr id="3" name="Text 1"/>
          <p:cNvSpPr txBox="1"/>
          <p:nvPr/>
        </p:nvSpPr>
        <p:spPr>
          <a:xfrm>
            <a:off x="502920" y="502920"/>
            <a:ext cx="11155680" cy="777240"/>
          </a:xfrm>
          <a:prstGeom prst="rect">
            <a:avLst/>
          </a:prstGeom>
          <a:noFill/>
          <a:ln/>
        </p:spPr>
        <p:txBody>
          <a:bodyPr wrap="square" lIns="0" tIns="0" rIns="0" bIns="0" rtlCol="0" anchor="ctr"/>
          <a:lstStyle/>
          <a:p>
            <a:pPr marL="0" indent="0">
              <a:lnSpc>
                <a:spcPct val="102000"/>
              </a:lnSpc>
              <a:buNone/>
            </a:pPr>
            <a:r>
              <a:rPr lang="en-US" sz="2100" b="1" dirty="0">
                <a:solidFill>
                  <a:srgbClr val="141B47"/>
                </a:solidFill>
                <a:latin typeface="Cambria" pitchFamily="34" charset="0"/>
                <a:ea typeface="Cambria" pitchFamily="34" charset="-122"/>
                <a:cs typeface="Cambria" pitchFamily="34" charset="-120"/>
              </a:rPr>
              <a:t>Airport shortage is severe, concentrated, and reinforced by poor return utilization</a:t>
            </a:r>
            <a:endParaRPr lang="en-US" sz="2100" dirty="0"/>
          </a:p>
        </p:txBody>
      </p:sp>
      <p:sp>
        <p:nvSpPr>
          <p:cNvPr id="4" name="Text 2"/>
          <p:cNvSpPr txBox="1"/>
          <p:nvPr/>
        </p:nvSpPr>
        <p:spPr>
          <a:xfrm>
            <a:off x="502920" y="1298448"/>
            <a:ext cx="11155680" cy="457200"/>
          </a:xfrm>
          <a:prstGeom prst="rect">
            <a:avLst/>
          </a:prstGeom>
          <a:noFill/>
          <a:ln/>
        </p:spPr>
        <p:txBody>
          <a:bodyPr wrap="square" lIns="0" tIns="0" rIns="0" bIns="0" rtlCol="0" anchor="ctr"/>
          <a:lstStyle/>
          <a:p>
            <a:pPr marL="0" indent="0">
              <a:buNone/>
            </a:pPr>
            <a:r>
              <a:rPr lang="en-US" sz="1400" i="1" dirty="0">
                <a:solidFill>
                  <a:srgbClr val="5A6482"/>
                </a:solidFill>
                <a:latin typeface="Calibri" pitchFamily="34" charset="0"/>
                <a:ea typeface="Calibri" pitchFamily="34" charset="-122"/>
                <a:cs typeface="Calibri" pitchFamily="34" charset="-120"/>
              </a:rPr>
              <a:t>The problem is concentrated at terminals and especially between 21:00–03:00.</a:t>
            </a:r>
            <a:endParaRPr lang="en-US" sz="1400" dirty="0"/>
          </a:p>
        </p:txBody>
      </p:sp>
      <p:sp>
        <p:nvSpPr>
          <p:cNvPr id="5" name="Shape 3"/>
          <p:cNvSpPr/>
          <p:nvPr/>
        </p:nvSpPr>
        <p:spPr>
          <a:xfrm>
            <a:off x="502920" y="1737360"/>
            <a:ext cx="2331720" cy="4160520"/>
          </a:xfrm>
          <a:prstGeom prst="roundRect">
            <a:avLst>
              <a:gd name="adj" fmla="val 3137"/>
            </a:avLst>
          </a:prstGeom>
          <a:solidFill>
            <a:srgbClr val="F96167"/>
          </a:solidFill>
          <a:ln/>
        </p:spPr>
      </p:sp>
      <p:sp>
        <p:nvSpPr>
          <p:cNvPr id="6" name="Text 4"/>
          <p:cNvSpPr txBox="1"/>
          <p:nvPr/>
        </p:nvSpPr>
        <p:spPr>
          <a:xfrm>
            <a:off x="685800" y="1874520"/>
            <a:ext cx="1965960" cy="256032"/>
          </a:xfrm>
          <a:prstGeom prst="rect">
            <a:avLst/>
          </a:prstGeom>
          <a:noFill/>
          <a:ln/>
        </p:spPr>
        <p:txBody>
          <a:bodyPr wrap="square" lIns="0" tIns="0" rIns="0" bIns="0" rtlCol="0" anchor="ctr"/>
          <a:lstStyle/>
          <a:p>
            <a:pPr marL="0" indent="0">
              <a:buNone/>
            </a:pPr>
            <a:r>
              <a:rPr lang="en-US" sz="1050" b="1" kern="0" spc="150" dirty="0">
                <a:solidFill>
                  <a:srgbClr val="FFFFFF"/>
                </a:solidFill>
                <a:latin typeface="Calibri" pitchFamily="34" charset="0"/>
                <a:ea typeface="Calibri" pitchFamily="34" charset="-122"/>
                <a:cs typeface="Calibri" pitchFamily="34" charset="-120"/>
              </a:rPr>
              <a:t>AIRPORT</a:t>
            </a:r>
            <a:endParaRPr lang="en-US" sz="1050" dirty="0"/>
          </a:p>
        </p:txBody>
      </p:sp>
      <p:sp>
        <p:nvSpPr>
          <p:cNvPr id="7" name="Text 5"/>
          <p:cNvSpPr txBox="1"/>
          <p:nvPr/>
        </p:nvSpPr>
        <p:spPr>
          <a:xfrm>
            <a:off x="685800" y="2103120"/>
            <a:ext cx="1965960" cy="5943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40.24%</a:t>
            </a:r>
            <a:endParaRPr lang="en-US" sz="3400" dirty="0"/>
          </a:p>
        </p:txBody>
      </p:sp>
      <p:sp>
        <p:nvSpPr>
          <p:cNvPr id="8" name="Text 6"/>
          <p:cNvSpPr txBox="1"/>
          <p:nvPr/>
        </p:nvSpPr>
        <p:spPr>
          <a:xfrm>
            <a:off x="685800" y="2670048"/>
            <a:ext cx="196596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unfulfilled</a:t>
            </a:r>
            <a:endParaRPr lang="en-US" sz="1100" dirty="0"/>
          </a:p>
        </p:txBody>
      </p:sp>
      <p:sp>
        <p:nvSpPr>
          <p:cNvPr id="9" name="Text 7"/>
          <p:cNvSpPr txBox="1"/>
          <p:nvPr/>
        </p:nvSpPr>
        <p:spPr>
          <a:xfrm>
            <a:off x="685800" y="3108960"/>
            <a:ext cx="196596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136,814
</a:t>
            </a:r>
            <a:r>
              <a:rPr lang="en-US" sz="1000" dirty="0">
                <a:solidFill>
                  <a:srgbClr val="FFFFFF"/>
                </a:solidFill>
                <a:latin typeface="Calibri" pitchFamily="34" charset="0"/>
                <a:ea typeface="Calibri" pitchFamily="34" charset="-122"/>
                <a:cs typeface="Calibri" pitchFamily="34" charset="-120"/>
              </a:rPr>
              <a:t>airport requests</a:t>
            </a:r>
            <a:endParaRPr lang="en-US" sz="1600" dirty="0"/>
          </a:p>
        </p:txBody>
      </p:sp>
      <p:sp>
        <p:nvSpPr>
          <p:cNvPr id="10" name="Text 8"/>
          <p:cNvSpPr txBox="1"/>
          <p:nvPr/>
        </p:nvSpPr>
        <p:spPr>
          <a:xfrm>
            <a:off x="685800" y="3794760"/>
            <a:ext cx="1965960" cy="6400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55,058
</a:t>
            </a:r>
            <a:r>
              <a:rPr lang="en-US" sz="1000" dirty="0">
                <a:solidFill>
                  <a:srgbClr val="FFFFFF"/>
                </a:solidFill>
                <a:latin typeface="Calibri" pitchFamily="34" charset="0"/>
                <a:ea typeface="Calibri" pitchFamily="34" charset="-122"/>
                <a:cs typeface="Calibri" pitchFamily="34" charset="-120"/>
              </a:rPr>
              <a:t>unfulfilled</a:t>
            </a:r>
            <a:endParaRPr lang="en-US" sz="1600" dirty="0"/>
          </a:p>
        </p:txBody>
      </p:sp>
      <p:sp>
        <p:nvSpPr>
          <p:cNvPr id="11" name="Shape 9"/>
          <p:cNvSpPr/>
          <p:nvPr/>
        </p:nvSpPr>
        <p:spPr>
          <a:xfrm>
            <a:off x="685800" y="4572000"/>
            <a:ext cx="1965960" cy="0"/>
          </a:xfrm>
          <a:prstGeom prst="line">
            <a:avLst/>
          </a:prstGeom>
          <a:noFill/>
          <a:ln w="9525">
            <a:solidFill>
              <a:srgbClr val="FFFFFF"/>
            </a:solidFill>
            <a:prstDash val="dash"/>
          </a:ln>
        </p:spPr>
      </p:sp>
      <p:sp>
        <p:nvSpPr>
          <p:cNvPr id="12" name="Text 10"/>
          <p:cNvSpPr txBox="1"/>
          <p:nvPr/>
        </p:nvSpPr>
        <p:spPr>
          <a:xfrm>
            <a:off x="685800" y="4709160"/>
            <a:ext cx="1965960" cy="237744"/>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NON-AIRPORT</a:t>
            </a:r>
            <a:endParaRPr lang="en-US" sz="1000" dirty="0"/>
          </a:p>
        </p:txBody>
      </p:sp>
      <p:sp>
        <p:nvSpPr>
          <p:cNvPr id="13" name="Text 11"/>
          <p:cNvSpPr txBox="1"/>
          <p:nvPr/>
        </p:nvSpPr>
        <p:spPr>
          <a:xfrm>
            <a:off x="685800" y="4937760"/>
            <a:ext cx="1965960" cy="5029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4" name="Text 12"/>
          <p:cNvSpPr txBox="1"/>
          <p:nvPr/>
        </p:nvSpPr>
        <p:spPr>
          <a:xfrm>
            <a:off x="685800" y="5394960"/>
            <a:ext cx="1965960" cy="2743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unfulfilled</a:t>
            </a:r>
            <a:endParaRPr lang="en-US" sz="1100" dirty="0"/>
          </a:p>
        </p:txBody>
      </p:sp>
      <p:graphicFrame>
        <p:nvGraphicFramePr>
          <p:cNvPr id="15" name="Chart 0"/>
          <p:cNvGraphicFramePr/>
          <p:nvPr/>
        </p:nvGraphicFramePr>
        <p:xfrm>
          <a:off x="3063240" y="1737360"/>
          <a:ext cx="530352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txBox="1"/>
          <p:nvPr/>
        </p:nvSpPr>
        <p:spPr>
          <a:xfrm>
            <a:off x="3063240" y="4572000"/>
            <a:ext cx="5303520" cy="256032"/>
          </a:xfrm>
          <a:prstGeom prst="rect">
            <a:avLst/>
          </a:prstGeom>
          <a:noFill/>
          <a:ln/>
        </p:spPr>
        <p:txBody>
          <a:bodyPr wrap="square" lIns="0" tIns="0" rIns="0" bIns="0" rtlCol="0" anchor="ctr"/>
          <a:lstStyle/>
          <a:p>
            <a:pPr marL="0" indent="0">
              <a:buNone/>
            </a:pPr>
            <a:r>
              <a:rPr lang="en-US" sz="950" i="1" dirty="0">
                <a:solidFill>
                  <a:srgbClr val="5A6482"/>
                </a:solidFill>
                <a:latin typeface="Calibri" pitchFamily="34" charset="0"/>
                <a:ea typeface="Calibri" pitchFamily="34" charset="-122"/>
                <a:cs typeface="Calibri" pitchFamily="34" charset="-120"/>
              </a:rPr>
              <a:t>Hour of day  ·  shaded window = critical shortage (21:00–03:00)</a:t>
            </a:r>
            <a:endParaRPr lang="en-US" sz="950" dirty="0"/>
          </a:p>
        </p:txBody>
      </p:sp>
      <p:sp>
        <p:nvSpPr>
          <p:cNvPr id="17" name="Shape 14"/>
          <p:cNvSpPr/>
          <p:nvPr/>
        </p:nvSpPr>
        <p:spPr>
          <a:xfrm>
            <a:off x="3063240" y="4892040"/>
            <a:ext cx="5303520" cy="457200"/>
          </a:xfrm>
          <a:prstGeom prst="roundRect">
            <a:avLst>
              <a:gd name="adj" fmla="val 12000"/>
            </a:avLst>
          </a:prstGeom>
          <a:solidFill>
            <a:srgbClr val="EEF3FD"/>
          </a:solidFill>
          <a:ln/>
        </p:spPr>
      </p:sp>
      <p:sp>
        <p:nvSpPr>
          <p:cNvPr id="18" name="Text 15"/>
          <p:cNvSpPr txBox="1"/>
          <p:nvPr/>
        </p:nvSpPr>
        <p:spPr>
          <a:xfrm>
            <a:off x="3246120" y="4892040"/>
            <a:ext cx="4937760" cy="4572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Critical shortage window  </a:t>
            </a:r>
            <a:r>
              <a:rPr lang="en-US" sz="1100" dirty="0">
                <a:solidFill>
                  <a:srgbClr val="1B1F3B"/>
                </a:solidFill>
                <a:latin typeface="Calibri" pitchFamily="34" charset="0"/>
                <a:ea typeface="Calibri" pitchFamily="34" charset="-122"/>
                <a:cs typeface="Calibri" pitchFamily="34" charset="-120"/>
              </a:rPr>
              <a:t>21:00 → 03:00   ·   60–74% unfulfilled at worst hours</a:t>
            </a:r>
            <a:endParaRPr lang="en-US" sz="1100" dirty="0"/>
          </a:p>
        </p:txBody>
      </p:sp>
      <p:sp>
        <p:nvSpPr>
          <p:cNvPr id="19" name="Shape 16"/>
          <p:cNvSpPr/>
          <p:nvPr/>
        </p:nvSpPr>
        <p:spPr>
          <a:xfrm>
            <a:off x="3063240" y="5486400"/>
            <a:ext cx="5303520" cy="402336"/>
          </a:xfrm>
          <a:prstGeom prst="roundRect">
            <a:avLst>
              <a:gd name="adj" fmla="val 13636"/>
            </a:avLst>
          </a:prstGeom>
          <a:solidFill>
            <a:srgbClr val="1E2761"/>
          </a:solidFill>
          <a:ln/>
        </p:spPr>
      </p:sp>
      <p:sp>
        <p:nvSpPr>
          <p:cNvPr id="20" name="Text 17"/>
          <p:cNvSpPr txBox="1"/>
          <p:nvPr/>
        </p:nvSpPr>
        <p:spPr>
          <a:xfrm>
            <a:off x="3246120" y="5486400"/>
            <a:ext cx="4937760" cy="402336"/>
          </a:xfrm>
          <a:prstGeom prst="rect">
            <a:avLst/>
          </a:prstGeom>
          <a:noFill/>
          <a:ln/>
        </p:spPr>
        <p:txBody>
          <a:bodyPr wrap="square" lIns="0" tIns="0" rIns="0" bIns="0" rtlCol="0" anchor="ctr"/>
          <a:lstStyle/>
          <a:p>
            <a:r>
              <a:rPr lang="en-IN" sz="1050" dirty="0">
                <a:solidFill>
                  <a:schemeClr val="bg1"/>
                </a:solidFill>
              </a:rPr>
              <a:t>This suggests utilization economics may be contributing to the shortage</a:t>
            </a:r>
            <a:r>
              <a:rPr lang="en-US" sz="1050" i="1" dirty="0">
                <a:solidFill>
                  <a:srgbClr val="FFFFFF"/>
                </a:solidFill>
                <a:latin typeface="Calibri" pitchFamily="34" charset="0"/>
                <a:ea typeface="Calibri" pitchFamily="34" charset="-122"/>
                <a:cs typeface="Calibri" pitchFamily="34" charset="-120"/>
              </a:rPr>
              <a:t>.</a:t>
            </a:r>
            <a:endParaRPr lang="en-US" sz="1050" dirty="0"/>
          </a:p>
        </p:txBody>
      </p:sp>
      <p:sp>
        <p:nvSpPr>
          <p:cNvPr id="21" name="Shape 18"/>
          <p:cNvSpPr/>
          <p:nvPr/>
        </p:nvSpPr>
        <p:spPr>
          <a:xfrm>
            <a:off x="8641080" y="1737360"/>
            <a:ext cx="3017520" cy="4160520"/>
          </a:xfrm>
          <a:prstGeom prst="roundRect">
            <a:avLst>
              <a:gd name="adj" fmla="val 2424"/>
            </a:avLst>
          </a:prstGeom>
          <a:solidFill>
            <a:srgbClr val="EEF3FD"/>
          </a:solidFill>
          <a:ln/>
        </p:spPr>
      </p:sp>
      <p:sp>
        <p:nvSpPr>
          <p:cNvPr id="22" name="Text 19"/>
          <p:cNvSpPr txBox="1"/>
          <p:nvPr/>
        </p:nvSpPr>
        <p:spPr>
          <a:xfrm>
            <a:off x="8823960" y="1874520"/>
            <a:ext cx="2651760" cy="237744"/>
          </a:xfrm>
          <a:prstGeom prst="rect">
            <a:avLst/>
          </a:prstGeom>
          <a:noFill/>
          <a:ln/>
        </p:spPr>
        <p:txBody>
          <a:bodyPr wrap="square" lIns="0" tIns="0" rIns="0" bIns="0" rtlCol="0" anchor="ctr"/>
          <a:lstStyle/>
          <a:p>
            <a:pPr marL="0" indent="0">
              <a:buNone/>
            </a:pPr>
            <a:r>
              <a:rPr lang="en-US" sz="1000" b="1" kern="0" spc="100" dirty="0">
                <a:solidFill>
                  <a:srgbClr val="1E2761"/>
                </a:solidFill>
                <a:latin typeface="Calibri" pitchFamily="34" charset="0"/>
                <a:ea typeface="Calibri" pitchFamily="34" charset="-122"/>
                <a:cs typeface="Calibri" pitchFamily="34" charset="-120"/>
              </a:rPr>
              <a:t>POST-AIRPORT UTILIZATION</a:t>
            </a:r>
            <a:endParaRPr lang="en-US" sz="1000" dirty="0"/>
          </a:p>
        </p:txBody>
      </p:sp>
      <p:sp>
        <p:nvSpPr>
          <p:cNvPr id="23" name="Text 20"/>
          <p:cNvSpPr txBox="1"/>
          <p:nvPr/>
        </p:nvSpPr>
        <p:spPr>
          <a:xfrm>
            <a:off x="8823960" y="2148840"/>
            <a:ext cx="2651760" cy="640080"/>
          </a:xfrm>
          <a:prstGeom prst="rect">
            <a:avLst/>
          </a:prstGeom>
          <a:noFill/>
          <a:ln/>
        </p:spPr>
        <p:txBody>
          <a:bodyPr wrap="square" lIns="0" tIns="0" rIns="0" bIns="0"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60,000
</a:t>
            </a:r>
            <a:r>
              <a:rPr lang="en-US" sz="1050" dirty="0">
                <a:solidFill>
                  <a:srgbClr val="5A6482"/>
                </a:solidFill>
                <a:latin typeface="Calibri" pitchFamily="34" charset="0"/>
                <a:ea typeface="Calibri" pitchFamily="34" charset="-122"/>
                <a:cs typeface="Calibri" pitchFamily="34" charset="-120"/>
              </a:rPr>
              <a:t>airport trips</a:t>
            </a:r>
            <a:endParaRPr lang="en-US" sz="1800" dirty="0"/>
          </a:p>
        </p:txBody>
      </p:sp>
      <p:sp>
        <p:nvSpPr>
          <p:cNvPr id="24" name="Text 21"/>
          <p:cNvSpPr txBox="1"/>
          <p:nvPr/>
        </p:nvSpPr>
        <p:spPr>
          <a:xfrm>
            <a:off x="8823960" y="2926080"/>
            <a:ext cx="2651760" cy="384048"/>
          </a:xfrm>
          <a:prstGeom prst="rect">
            <a:avLst/>
          </a:prstGeom>
          <a:noFill/>
          <a:ln/>
        </p:spPr>
        <p:txBody>
          <a:bodyPr wrap="square" lIns="0" tIns="0" rIns="0" bIns="0" rtlCol="0" anchor="ctr"/>
          <a:lstStyle/>
          <a:p>
            <a:pPr marL="0" indent="0">
              <a:buNone/>
            </a:pPr>
            <a:r>
              <a:rPr lang="en-US" sz="2100" b="1" dirty="0">
                <a:solidFill>
                  <a:srgbClr val="F96167"/>
                </a:solidFill>
                <a:latin typeface="Cambria" pitchFamily="34" charset="0"/>
                <a:ea typeface="Cambria" pitchFamily="34" charset="-122"/>
                <a:cs typeface="Cambria" pitchFamily="34" charset="-120"/>
              </a:rPr>
              <a:t>64.04%</a:t>
            </a:r>
            <a:endParaRPr lang="en-US" sz="2100" dirty="0"/>
          </a:p>
        </p:txBody>
      </p:sp>
      <p:sp>
        <p:nvSpPr>
          <p:cNvPr id="25" name="Text 22"/>
          <p:cNvSpPr txBox="1"/>
          <p:nvPr/>
        </p:nvSpPr>
        <p:spPr>
          <a:xfrm>
            <a:off x="8823960" y="3291840"/>
            <a:ext cx="2651760" cy="365760"/>
          </a:xfrm>
          <a:prstGeom prst="rect">
            <a:avLst/>
          </a:prstGeom>
          <a:noFill/>
          <a:ln/>
        </p:spPr>
        <p:txBody>
          <a:bodyPr wrap="square" lIns="0" tIns="0" rIns="0" bIns="0" rtlCol="0" anchor="ctr"/>
          <a:lstStyle/>
          <a:p>
            <a:pPr marL="0" indent="0">
              <a:buNone/>
            </a:pPr>
            <a:r>
              <a:rPr lang="en-US" sz="1000" dirty="0">
                <a:solidFill>
                  <a:srgbClr val="1B1F3B"/>
                </a:solidFill>
                <a:latin typeface="Calibri" pitchFamily="34" charset="0"/>
                <a:ea typeface="Calibri" pitchFamily="34" charset="-122"/>
                <a:cs typeface="Calibri" pitchFamily="34" charset="-120"/>
              </a:rPr>
              <a:t>No return fare ≤ 20 min</a:t>
            </a:r>
            <a:endParaRPr lang="en-US" sz="1000" dirty="0"/>
          </a:p>
        </p:txBody>
      </p:sp>
      <p:sp>
        <p:nvSpPr>
          <p:cNvPr id="26" name="Text 23"/>
          <p:cNvSpPr txBox="1"/>
          <p:nvPr/>
        </p:nvSpPr>
        <p:spPr>
          <a:xfrm>
            <a:off x="8823960" y="3675888"/>
            <a:ext cx="2651760" cy="384048"/>
          </a:xfrm>
          <a:prstGeom prst="rect">
            <a:avLst/>
          </a:prstGeom>
          <a:noFill/>
          <a:ln/>
        </p:spPr>
        <p:txBody>
          <a:bodyPr wrap="square" lIns="0" tIns="0" rIns="0" bIns="0" rtlCol="0" anchor="ctr"/>
          <a:lstStyle/>
          <a:p>
            <a:pPr marL="0" indent="0">
              <a:buNone/>
            </a:pPr>
            <a:r>
              <a:rPr lang="en-US" sz="2100" b="1" dirty="0">
                <a:solidFill>
                  <a:srgbClr val="F96167"/>
                </a:solidFill>
                <a:latin typeface="Cambria" pitchFamily="34" charset="0"/>
                <a:ea typeface="Cambria" pitchFamily="34" charset="-122"/>
                <a:cs typeface="Cambria" pitchFamily="34" charset="-120"/>
              </a:rPr>
              <a:t>70.09%</a:t>
            </a:r>
            <a:endParaRPr lang="en-US" sz="2100" dirty="0"/>
          </a:p>
        </p:txBody>
      </p:sp>
      <p:sp>
        <p:nvSpPr>
          <p:cNvPr id="27" name="Text 24"/>
          <p:cNvSpPr txBox="1"/>
          <p:nvPr/>
        </p:nvSpPr>
        <p:spPr>
          <a:xfrm>
            <a:off x="8823960" y="4041648"/>
            <a:ext cx="2651760" cy="365760"/>
          </a:xfrm>
          <a:prstGeom prst="rect">
            <a:avLst/>
          </a:prstGeom>
          <a:noFill/>
          <a:ln/>
        </p:spPr>
        <p:txBody>
          <a:bodyPr wrap="square" lIns="0" tIns="0" rIns="0" bIns="0" rtlCol="0" anchor="ctr"/>
          <a:lstStyle/>
          <a:p>
            <a:pPr marL="0" indent="0">
              <a:buNone/>
            </a:pPr>
            <a:r>
              <a:rPr lang="en-US" sz="1000" dirty="0">
                <a:solidFill>
                  <a:srgbClr val="1B1F3B"/>
                </a:solidFill>
                <a:latin typeface="Calibri" pitchFamily="34" charset="0"/>
                <a:ea typeface="Calibri" pitchFamily="34" charset="-122"/>
                <a:cs typeface="Calibri" pitchFamily="34" charset="-120"/>
              </a:rPr>
              <a:t>No return fare during 21:00–03:00</a:t>
            </a:r>
            <a:endParaRPr lang="en-US" sz="1000" dirty="0"/>
          </a:p>
        </p:txBody>
      </p:sp>
      <p:sp>
        <p:nvSpPr>
          <p:cNvPr id="28" name="Text 25"/>
          <p:cNvSpPr txBox="1"/>
          <p:nvPr/>
        </p:nvSpPr>
        <p:spPr>
          <a:xfrm>
            <a:off x="8823960" y="4425696"/>
            <a:ext cx="2651760" cy="384048"/>
          </a:xfrm>
          <a:prstGeom prst="rect">
            <a:avLst/>
          </a:prstGeom>
          <a:noFill/>
          <a:ln/>
        </p:spPr>
        <p:txBody>
          <a:bodyPr wrap="square" lIns="0" tIns="0" rIns="0" bIns="0" rtlCol="0" anchor="ctr"/>
          <a:lstStyle/>
          <a:p>
            <a:pPr marL="0" indent="0">
              <a:buNone/>
            </a:pPr>
            <a:r>
              <a:rPr lang="en-US" sz="2100" b="1" dirty="0">
                <a:solidFill>
                  <a:srgbClr val="F96167"/>
                </a:solidFill>
                <a:latin typeface="Cambria" pitchFamily="34" charset="0"/>
                <a:ea typeface="Cambria" pitchFamily="34" charset="-122"/>
                <a:cs typeface="Cambria" pitchFamily="34" charset="-120"/>
              </a:rPr>
              <a:t>83.47%</a:t>
            </a:r>
            <a:endParaRPr lang="en-US" sz="2100" dirty="0"/>
          </a:p>
        </p:txBody>
      </p:sp>
      <p:sp>
        <p:nvSpPr>
          <p:cNvPr id="29" name="Text 26"/>
          <p:cNvSpPr txBox="1"/>
          <p:nvPr/>
        </p:nvSpPr>
        <p:spPr>
          <a:xfrm>
            <a:off x="8823960" y="4791456"/>
            <a:ext cx="2651760" cy="365760"/>
          </a:xfrm>
          <a:prstGeom prst="rect">
            <a:avLst/>
          </a:prstGeom>
          <a:noFill/>
          <a:ln/>
        </p:spPr>
        <p:txBody>
          <a:bodyPr wrap="square" lIns="0" tIns="0" rIns="0" bIns="0" rtlCol="0" anchor="ctr"/>
          <a:lstStyle/>
          <a:p>
            <a:pPr marL="0" indent="0">
              <a:buNone/>
            </a:pPr>
            <a:r>
              <a:rPr lang="en-US" sz="1000" dirty="0">
                <a:solidFill>
                  <a:srgbClr val="1B1F3B"/>
                </a:solidFill>
                <a:latin typeface="Calibri" pitchFamily="34" charset="0"/>
                <a:ea typeface="Calibri" pitchFamily="34" charset="-122"/>
                <a:cs typeface="Calibri" pitchFamily="34" charset="-120"/>
              </a:rPr>
              <a:t>No return fare on suburban trips</a:t>
            </a:r>
            <a:endParaRPr lang="en-US" sz="1000" dirty="0"/>
          </a:p>
        </p:txBody>
      </p:sp>
      <p:sp>
        <p:nvSpPr>
          <p:cNvPr id="30" name="Shape 27"/>
          <p:cNvSpPr/>
          <p:nvPr/>
        </p:nvSpPr>
        <p:spPr>
          <a:xfrm>
            <a:off x="8823960" y="5193792"/>
            <a:ext cx="2651760" cy="0"/>
          </a:xfrm>
          <a:prstGeom prst="line">
            <a:avLst/>
          </a:prstGeom>
          <a:noFill/>
          <a:ln w="9525">
            <a:solidFill>
              <a:srgbClr val="5A6482"/>
            </a:solidFill>
            <a:prstDash val="dash"/>
          </a:ln>
        </p:spPr>
      </p:sp>
      <p:sp>
        <p:nvSpPr>
          <p:cNvPr id="31" name="Text 28"/>
          <p:cNvSpPr txBox="1"/>
          <p:nvPr/>
        </p:nvSpPr>
        <p:spPr>
          <a:xfrm>
            <a:off x="8823960" y="5312664"/>
            <a:ext cx="2651760" cy="777240"/>
          </a:xfrm>
          <a:prstGeom prst="rect">
            <a:avLst/>
          </a:prstGeom>
          <a:noFill/>
          <a:ln/>
        </p:spPr>
        <p:txBody>
          <a:bodyPr wrap="square" lIns="0" tIns="0" rIns="0" bIns="0" rtlCol="0" anchor="ctr"/>
          <a:lstStyle/>
          <a:p>
            <a:pPr marL="0" indent="0">
              <a:buNone/>
            </a:pPr>
            <a:r>
              <a:rPr lang="en-US" sz="900" i="1" dirty="0">
                <a:solidFill>
                  <a:srgbClr val="5A6482"/>
                </a:solidFill>
                <a:latin typeface="Calibri" pitchFamily="34" charset="0"/>
                <a:ea typeface="Calibri" pitchFamily="34" charset="-122"/>
                <a:cs typeface="Calibri" pitchFamily="34" charset="-120"/>
              </a:rPr>
              <a:t>airport_trips has no captain_id; return fare is therefore a utilization proxy, not individual captain retention.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4572000" cy="274320"/>
          </a:xfrm>
          <a:prstGeom prst="rect">
            <a:avLst/>
          </a:prstGeom>
          <a:noFill/>
          <a:ln/>
        </p:spPr>
        <p:txBody>
          <a:bodyPr wrap="square" lIns="0" tIns="0" rIns="0" bIns="0" rtlCol="0" anchor="ctr"/>
          <a:lstStyle/>
          <a:p>
            <a:pPr marL="0" indent="0">
              <a:buNone/>
            </a:pPr>
            <a:r>
              <a:rPr lang="en-US" sz="1100" b="1" kern="0" spc="200" dirty="0">
                <a:solidFill>
                  <a:srgbClr val="CADCFC"/>
                </a:solidFill>
                <a:latin typeface="Calibri" pitchFamily="34" charset="0"/>
                <a:ea typeface="Calibri" pitchFamily="34" charset="-122"/>
                <a:cs typeface="Calibri" pitchFamily="34" charset="-120"/>
              </a:rPr>
              <a:t>MONDAY MORNING ACTION PLAN</a:t>
            </a:r>
            <a:endParaRPr lang="en-US" sz="1100" dirty="0"/>
          </a:p>
        </p:txBody>
      </p:sp>
      <p:sp>
        <p:nvSpPr>
          <p:cNvPr id="3" name="Text 1"/>
          <p:cNvSpPr txBox="1"/>
          <p:nvPr/>
        </p:nvSpPr>
        <p:spPr>
          <a:xfrm>
            <a:off x="502920" y="621792"/>
            <a:ext cx="10789920" cy="640080"/>
          </a:xfrm>
          <a:prstGeom prst="rect">
            <a:avLst/>
          </a:prstGeom>
          <a:noFill/>
          <a:ln/>
        </p:spPr>
        <p:txBody>
          <a:bodyPr wrap="square" lIns="0" tIns="0" rIns="0" bIns="0" rtlCol="0" anchor="ctr"/>
          <a:lstStyle/>
          <a:p>
            <a:pPr marL="0" indent="0">
              <a:lnSpc>
                <a:spcPct val="102000"/>
              </a:lnSpc>
              <a:buNone/>
            </a:pPr>
            <a:r>
              <a:rPr lang="en-US" sz="2600" b="1" dirty="0">
                <a:solidFill>
                  <a:srgbClr val="FFFFFF"/>
                </a:solidFill>
                <a:latin typeface="Cambria" pitchFamily="34" charset="0"/>
                <a:ea typeface="Cambria" pitchFamily="34" charset="-122"/>
                <a:cs typeface="Cambria" pitchFamily="34" charset="-120"/>
              </a:rPr>
              <a:t>Run targeted interventions, not a broad acquisition push</a:t>
            </a:r>
            <a:endParaRPr lang="en-US" sz="2600" dirty="0"/>
          </a:p>
        </p:txBody>
      </p:sp>
      <p:sp>
        <p:nvSpPr>
          <p:cNvPr id="4" name="Text 2"/>
          <p:cNvSpPr txBox="1"/>
          <p:nvPr/>
        </p:nvSpPr>
        <p:spPr>
          <a:xfrm>
            <a:off x="502920" y="1234440"/>
            <a:ext cx="10789920" cy="45720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Diagnose  →  Experiment  →  Scale</a:t>
            </a:r>
            <a:endParaRPr lang="en-US" sz="1400" dirty="0"/>
          </a:p>
        </p:txBody>
      </p:sp>
      <p:sp>
        <p:nvSpPr>
          <p:cNvPr id="5" name="Shape 3"/>
          <p:cNvSpPr/>
          <p:nvPr/>
        </p:nvSpPr>
        <p:spPr>
          <a:xfrm>
            <a:off x="502920" y="1783080"/>
            <a:ext cx="3611880" cy="457200"/>
          </a:xfrm>
          <a:prstGeom prst="roundRect">
            <a:avLst>
              <a:gd name="adj" fmla="val 12000"/>
            </a:avLst>
          </a:prstGeom>
          <a:solidFill>
            <a:srgbClr val="F96167"/>
          </a:solidFill>
          <a:ln/>
        </p:spPr>
      </p:sp>
      <p:sp>
        <p:nvSpPr>
          <p:cNvPr id="6" name="Text 4"/>
          <p:cNvSpPr txBox="1"/>
          <p:nvPr/>
        </p:nvSpPr>
        <p:spPr>
          <a:xfrm>
            <a:off x="502920" y="1783080"/>
            <a:ext cx="361188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WEEK 1   </a:t>
            </a:r>
            <a:r>
              <a:rPr lang="en-US" sz="1300" b="1" dirty="0">
                <a:solidFill>
                  <a:srgbClr val="FFFFFF"/>
                </a:solidFill>
                <a:latin typeface="Cambria" pitchFamily="34" charset="0"/>
                <a:ea typeface="Cambria" pitchFamily="34" charset="-122"/>
                <a:cs typeface="Cambria" pitchFamily="34" charset="-120"/>
              </a:rPr>
              <a:t>Diagnose</a:t>
            </a:r>
            <a:endParaRPr lang="en-US" sz="1100" dirty="0"/>
          </a:p>
        </p:txBody>
      </p:sp>
      <p:sp>
        <p:nvSpPr>
          <p:cNvPr id="7" name="Shape 5"/>
          <p:cNvSpPr/>
          <p:nvPr/>
        </p:nvSpPr>
        <p:spPr>
          <a:xfrm>
            <a:off x="502920" y="2377440"/>
            <a:ext cx="3611880" cy="1152144"/>
          </a:xfrm>
          <a:prstGeom prst="roundRect">
            <a:avLst>
              <a:gd name="adj" fmla="val 4762"/>
            </a:avLst>
          </a:prstGeom>
          <a:solidFill>
            <a:srgbClr val="141B47"/>
          </a:solidFill>
          <a:ln/>
        </p:spPr>
      </p:sp>
      <p:sp>
        <p:nvSpPr>
          <p:cNvPr id="8" name="Text 6"/>
          <p:cNvSpPr txBox="1"/>
          <p:nvPr/>
        </p:nvSpPr>
        <p:spPr>
          <a:xfrm>
            <a:off x="685800" y="2432304"/>
            <a:ext cx="3246120" cy="27432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Fitness</a:t>
            </a:r>
            <a:endParaRPr lang="en-US" sz="1200" dirty="0"/>
          </a:p>
        </p:txBody>
      </p:sp>
      <p:sp>
        <p:nvSpPr>
          <p:cNvPr id="9" name="Text 7"/>
          <p:cNvSpPr txBox="1"/>
          <p:nvPr/>
        </p:nvSpPr>
        <p:spPr>
          <a:xfrm>
            <a:off x="685800" y="2706624"/>
            <a:ext cx="3246120" cy="822960"/>
          </a:xfrm>
          <a:prstGeom prst="rect">
            <a:avLst/>
          </a:prstGeom>
          <a:noFill/>
          <a:ln/>
        </p:spPr>
        <p:txBody>
          <a:bodyPr wrap="square" lIns="0" tIns="0" rIns="0" bIns="0" rtlCol="0" anchor="ctr"/>
          <a:lstStyle/>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Audit e-rickshaw journey</a:t>
            </a:r>
            <a:endParaRPr lang="en-US" sz="1050" dirty="0"/>
          </a:p>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Identify actual stop points</a:t>
            </a:r>
            <a:endParaRPr lang="en-US" sz="1050" dirty="0"/>
          </a:p>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Separate missing vs failed vs operational</a:t>
            </a:r>
            <a:endParaRPr lang="en-US" sz="1050" dirty="0"/>
          </a:p>
        </p:txBody>
      </p:sp>
      <p:sp>
        <p:nvSpPr>
          <p:cNvPr id="10" name="Shape 8"/>
          <p:cNvSpPr/>
          <p:nvPr/>
        </p:nvSpPr>
        <p:spPr>
          <a:xfrm>
            <a:off x="502920" y="3657600"/>
            <a:ext cx="3611880" cy="877824"/>
          </a:xfrm>
          <a:prstGeom prst="roundRect">
            <a:avLst>
              <a:gd name="adj" fmla="val 6250"/>
            </a:avLst>
          </a:prstGeom>
          <a:solidFill>
            <a:srgbClr val="141B47"/>
          </a:solidFill>
          <a:ln/>
        </p:spPr>
      </p:sp>
      <p:sp>
        <p:nvSpPr>
          <p:cNvPr id="11" name="Text 9"/>
          <p:cNvSpPr txBox="1"/>
          <p:nvPr/>
        </p:nvSpPr>
        <p:spPr>
          <a:xfrm>
            <a:off x="685800" y="3712464"/>
            <a:ext cx="3246120" cy="27432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RC</a:t>
            </a:r>
            <a:endParaRPr lang="en-US" sz="1200" dirty="0"/>
          </a:p>
        </p:txBody>
      </p:sp>
      <p:sp>
        <p:nvSpPr>
          <p:cNvPr id="12" name="Text 10"/>
          <p:cNvSpPr txBox="1"/>
          <p:nvPr/>
        </p:nvSpPr>
        <p:spPr>
          <a:xfrm>
            <a:off x="685800" y="3986784"/>
            <a:ext cx="3246120" cy="548640"/>
          </a:xfrm>
          <a:prstGeom prst="rect">
            <a:avLst/>
          </a:prstGeom>
          <a:noFill/>
          <a:ln/>
        </p:spPr>
        <p:txBody>
          <a:bodyPr wrap="square" lIns="0" tIns="0" rIns="0" bIns="0" rtlCol="0" anchor="ctr"/>
          <a:lstStyle/>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Identify capture/quality friction</a:t>
            </a:r>
            <a:endParaRPr lang="en-US" sz="1050" dirty="0"/>
          </a:p>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Segment by device</a:t>
            </a:r>
            <a:endParaRPr lang="en-US" sz="1050" dirty="0"/>
          </a:p>
        </p:txBody>
      </p:sp>
      <p:sp>
        <p:nvSpPr>
          <p:cNvPr id="13" name="Shape 11"/>
          <p:cNvSpPr/>
          <p:nvPr/>
        </p:nvSpPr>
        <p:spPr>
          <a:xfrm>
            <a:off x="502920" y="4663440"/>
            <a:ext cx="3611880" cy="877824"/>
          </a:xfrm>
          <a:prstGeom prst="roundRect">
            <a:avLst>
              <a:gd name="adj" fmla="val 6250"/>
            </a:avLst>
          </a:prstGeom>
          <a:solidFill>
            <a:srgbClr val="141B47"/>
          </a:solidFill>
          <a:ln/>
        </p:spPr>
      </p:sp>
      <p:sp>
        <p:nvSpPr>
          <p:cNvPr id="14" name="Text 12"/>
          <p:cNvSpPr txBox="1"/>
          <p:nvPr/>
        </p:nvSpPr>
        <p:spPr>
          <a:xfrm>
            <a:off x="685800" y="4718304"/>
            <a:ext cx="3246120" cy="27432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Airport</a:t>
            </a:r>
            <a:endParaRPr lang="en-US" sz="1200" dirty="0"/>
          </a:p>
        </p:txBody>
      </p:sp>
      <p:sp>
        <p:nvSpPr>
          <p:cNvPr id="15" name="Text 13"/>
          <p:cNvSpPr txBox="1"/>
          <p:nvPr/>
        </p:nvSpPr>
        <p:spPr>
          <a:xfrm>
            <a:off x="685800" y="4992624"/>
            <a:ext cx="3246120" cy="548640"/>
          </a:xfrm>
          <a:prstGeom prst="rect">
            <a:avLst/>
          </a:prstGeom>
          <a:noFill/>
          <a:ln/>
        </p:spPr>
        <p:txBody>
          <a:bodyPr wrap="square" lIns="0" tIns="0" rIns="0" bIns="0" rtlCol="0" anchor="ctr"/>
          <a:lstStyle/>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Identify late-night terminal/destination gaps</a:t>
            </a:r>
            <a:endParaRPr lang="en-US" sz="1050" dirty="0"/>
          </a:p>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Analyze cancellation &amp; return utilization</a:t>
            </a:r>
            <a:endParaRPr lang="en-US" sz="1050" dirty="0"/>
          </a:p>
        </p:txBody>
      </p:sp>
      <p:sp>
        <p:nvSpPr>
          <p:cNvPr id="16" name="Shape 14"/>
          <p:cNvSpPr/>
          <p:nvPr/>
        </p:nvSpPr>
        <p:spPr>
          <a:xfrm>
            <a:off x="4274820" y="1783080"/>
            <a:ext cx="3611880" cy="457200"/>
          </a:xfrm>
          <a:prstGeom prst="roundRect">
            <a:avLst>
              <a:gd name="adj" fmla="val 12000"/>
            </a:avLst>
          </a:prstGeom>
          <a:solidFill>
            <a:srgbClr val="F96167"/>
          </a:solidFill>
          <a:ln/>
        </p:spPr>
      </p:sp>
      <p:sp>
        <p:nvSpPr>
          <p:cNvPr id="17" name="Text 15"/>
          <p:cNvSpPr txBox="1"/>
          <p:nvPr/>
        </p:nvSpPr>
        <p:spPr>
          <a:xfrm>
            <a:off x="4274820" y="1783080"/>
            <a:ext cx="361188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WEEKS 2–3   </a:t>
            </a:r>
            <a:r>
              <a:rPr lang="en-US" sz="1300" b="1" dirty="0">
                <a:solidFill>
                  <a:srgbClr val="FFFFFF"/>
                </a:solidFill>
                <a:latin typeface="Cambria" pitchFamily="34" charset="0"/>
                <a:ea typeface="Cambria" pitchFamily="34" charset="-122"/>
                <a:cs typeface="Cambria" pitchFamily="34" charset="-120"/>
              </a:rPr>
              <a:t>Experiment</a:t>
            </a:r>
            <a:endParaRPr lang="en-US" sz="1100" dirty="0"/>
          </a:p>
        </p:txBody>
      </p:sp>
      <p:sp>
        <p:nvSpPr>
          <p:cNvPr id="18" name="Shape 16"/>
          <p:cNvSpPr/>
          <p:nvPr/>
        </p:nvSpPr>
        <p:spPr>
          <a:xfrm>
            <a:off x="4274820" y="2377440"/>
            <a:ext cx="3611880" cy="877824"/>
          </a:xfrm>
          <a:prstGeom prst="roundRect">
            <a:avLst>
              <a:gd name="adj" fmla="val 6250"/>
            </a:avLst>
          </a:prstGeom>
          <a:solidFill>
            <a:srgbClr val="141B47"/>
          </a:solidFill>
          <a:ln/>
        </p:spPr>
      </p:sp>
      <p:sp>
        <p:nvSpPr>
          <p:cNvPr id="19" name="Text 17"/>
          <p:cNvSpPr txBox="1"/>
          <p:nvPr/>
        </p:nvSpPr>
        <p:spPr>
          <a:xfrm>
            <a:off x="4457700" y="2432304"/>
            <a:ext cx="3246120" cy="27432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Test 1 — Fitness recovery</a:t>
            </a:r>
            <a:endParaRPr lang="en-US" sz="1200" dirty="0"/>
          </a:p>
        </p:txBody>
      </p:sp>
      <p:sp>
        <p:nvSpPr>
          <p:cNvPr id="20" name="Text 18"/>
          <p:cNvSpPr txBox="1"/>
          <p:nvPr/>
        </p:nvSpPr>
        <p:spPr>
          <a:xfrm>
            <a:off x="4457700" y="2706624"/>
            <a:ext cx="3246120" cy="548640"/>
          </a:xfrm>
          <a:prstGeom prst="rect">
            <a:avLst/>
          </a:prstGeom>
          <a:noFill/>
          <a:ln/>
        </p:spPr>
        <p:txBody>
          <a:bodyPr wrap="square" lIns="0" tIns="0" rIns="0" bIns="0" rtlCol="0" anchor="ctr"/>
          <a:lstStyle/>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Target stalled captains</a:t>
            </a:r>
            <a:endParaRPr lang="en-US" sz="1050" dirty="0"/>
          </a:p>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 Incremental approvals</a:t>
            </a:r>
            <a:endParaRPr lang="en-US" sz="1050" dirty="0"/>
          </a:p>
        </p:txBody>
      </p:sp>
      <p:sp>
        <p:nvSpPr>
          <p:cNvPr id="21" name="Shape 19"/>
          <p:cNvSpPr/>
          <p:nvPr/>
        </p:nvSpPr>
        <p:spPr>
          <a:xfrm>
            <a:off x="4274820" y="3383280"/>
            <a:ext cx="3611880" cy="877824"/>
          </a:xfrm>
          <a:prstGeom prst="roundRect">
            <a:avLst>
              <a:gd name="adj" fmla="val 6250"/>
            </a:avLst>
          </a:prstGeom>
          <a:solidFill>
            <a:srgbClr val="141B47"/>
          </a:solidFill>
          <a:ln/>
        </p:spPr>
      </p:sp>
      <p:sp>
        <p:nvSpPr>
          <p:cNvPr id="22" name="Text 20"/>
          <p:cNvSpPr txBox="1"/>
          <p:nvPr/>
        </p:nvSpPr>
        <p:spPr>
          <a:xfrm>
            <a:off x="4457700" y="3438144"/>
            <a:ext cx="3246120" cy="27432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Test 2 — RC recovery</a:t>
            </a:r>
            <a:endParaRPr lang="en-US" sz="1200" dirty="0"/>
          </a:p>
        </p:txBody>
      </p:sp>
      <p:sp>
        <p:nvSpPr>
          <p:cNvPr id="23" name="Text 21"/>
          <p:cNvSpPr txBox="1"/>
          <p:nvPr/>
        </p:nvSpPr>
        <p:spPr>
          <a:xfrm>
            <a:off x="4457700" y="3712464"/>
            <a:ext cx="3246120" cy="548640"/>
          </a:xfrm>
          <a:prstGeom prst="rect">
            <a:avLst/>
          </a:prstGeom>
          <a:noFill/>
          <a:ln/>
        </p:spPr>
        <p:txBody>
          <a:bodyPr wrap="square" lIns="0" tIns="0" rIns="0" bIns="0" rtlCol="0" anchor="ctr"/>
          <a:lstStyle/>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Capture + reminders</a:t>
            </a:r>
            <a:endParaRPr lang="en-US" sz="1050" dirty="0"/>
          </a:p>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 Incremental approvals</a:t>
            </a:r>
            <a:endParaRPr lang="en-US" sz="1050" dirty="0"/>
          </a:p>
        </p:txBody>
      </p:sp>
      <p:sp>
        <p:nvSpPr>
          <p:cNvPr id="24" name="Shape 22"/>
          <p:cNvSpPr/>
          <p:nvPr/>
        </p:nvSpPr>
        <p:spPr>
          <a:xfrm>
            <a:off x="4274820" y="4389120"/>
            <a:ext cx="3611880" cy="877824"/>
          </a:xfrm>
          <a:prstGeom prst="roundRect">
            <a:avLst>
              <a:gd name="adj" fmla="val 6250"/>
            </a:avLst>
          </a:prstGeom>
          <a:solidFill>
            <a:srgbClr val="141B47"/>
          </a:solidFill>
          <a:ln/>
        </p:spPr>
      </p:sp>
      <p:sp>
        <p:nvSpPr>
          <p:cNvPr id="25" name="Text 23"/>
          <p:cNvSpPr txBox="1"/>
          <p:nvPr/>
        </p:nvSpPr>
        <p:spPr>
          <a:xfrm>
            <a:off x="4457700" y="4443984"/>
            <a:ext cx="3246120" cy="27432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Test 3 — WhatsApp holdout</a:t>
            </a:r>
            <a:endParaRPr lang="en-US" sz="1200" dirty="0"/>
          </a:p>
        </p:txBody>
      </p:sp>
      <p:sp>
        <p:nvSpPr>
          <p:cNvPr id="26" name="Text 24"/>
          <p:cNvSpPr txBox="1"/>
          <p:nvPr/>
        </p:nvSpPr>
        <p:spPr>
          <a:xfrm>
            <a:off x="4457700" y="4718304"/>
            <a:ext cx="3246120" cy="548640"/>
          </a:xfrm>
          <a:prstGeom prst="rect">
            <a:avLst/>
          </a:prstGeom>
          <a:noFill/>
          <a:ln/>
        </p:spPr>
        <p:txBody>
          <a:bodyPr wrap="square" lIns="0" tIns="0" rIns="0" bIns="0" rtlCol="0" anchor="ctr"/>
          <a:lstStyle/>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Treatment vs control</a:t>
            </a:r>
            <a:endParaRPr lang="en-US" sz="1050" dirty="0"/>
          </a:p>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 Incremental A2O</a:t>
            </a:r>
            <a:endParaRPr lang="en-US" sz="1050" dirty="0"/>
          </a:p>
        </p:txBody>
      </p:sp>
      <p:sp>
        <p:nvSpPr>
          <p:cNvPr id="27" name="Shape 25"/>
          <p:cNvSpPr/>
          <p:nvPr/>
        </p:nvSpPr>
        <p:spPr>
          <a:xfrm>
            <a:off x="8046720" y="1783080"/>
            <a:ext cx="3611880" cy="457200"/>
          </a:xfrm>
          <a:prstGeom prst="roundRect">
            <a:avLst>
              <a:gd name="adj" fmla="val 12000"/>
            </a:avLst>
          </a:prstGeom>
          <a:solidFill>
            <a:srgbClr val="F96167"/>
          </a:solidFill>
          <a:ln/>
        </p:spPr>
      </p:sp>
      <p:sp>
        <p:nvSpPr>
          <p:cNvPr id="28" name="Text 26"/>
          <p:cNvSpPr txBox="1"/>
          <p:nvPr/>
        </p:nvSpPr>
        <p:spPr>
          <a:xfrm>
            <a:off x="8046720" y="1783080"/>
            <a:ext cx="361188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WEEK 4   </a:t>
            </a:r>
            <a:r>
              <a:rPr lang="en-US" sz="1300" b="1" dirty="0">
                <a:solidFill>
                  <a:srgbClr val="FFFFFF"/>
                </a:solidFill>
                <a:latin typeface="Cambria" pitchFamily="34" charset="0"/>
                <a:ea typeface="Cambria" pitchFamily="34" charset="-122"/>
                <a:cs typeface="Cambria" pitchFamily="34" charset="-120"/>
              </a:rPr>
              <a:t>Scale</a:t>
            </a:r>
            <a:endParaRPr lang="en-US" sz="1100" dirty="0"/>
          </a:p>
        </p:txBody>
      </p:sp>
      <p:sp>
        <p:nvSpPr>
          <p:cNvPr id="29" name="Shape 27"/>
          <p:cNvSpPr/>
          <p:nvPr/>
        </p:nvSpPr>
        <p:spPr>
          <a:xfrm>
            <a:off x="8046720" y="2377440"/>
            <a:ext cx="3611880" cy="1152144"/>
          </a:xfrm>
          <a:prstGeom prst="roundRect">
            <a:avLst>
              <a:gd name="adj" fmla="val 4762"/>
            </a:avLst>
          </a:prstGeom>
          <a:solidFill>
            <a:srgbClr val="141B47"/>
          </a:solidFill>
          <a:ln/>
        </p:spPr>
      </p:sp>
      <p:sp>
        <p:nvSpPr>
          <p:cNvPr id="30" name="Text 28"/>
          <p:cNvSpPr txBox="1"/>
          <p:nvPr/>
        </p:nvSpPr>
        <p:spPr>
          <a:xfrm>
            <a:off x="8229600" y="2432304"/>
            <a:ext cx="3246120" cy="27432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Scale only if:</a:t>
            </a:r>
            <a:endParaRPr lang="en-US" sz="1200" dirty="0"/>
          </a:p>
        </p:txBody>
      </p:sp>
      <p:sp>
        <p:nvSpPr>
          <p:cNvPr id="31" name="Text 29"/>
          <p:cNvSpPr txBox="1"/>
          <p:nvPr/>
        </p:nvSpPr>
        <p:spPr>
          <a:xfrm>
            <a:off x="8229600" y="2706624"/>
            <a:ext cx="3246120" cy="822960"/>
          </a:xfrm>
          <a:prstGeom prst="rect">
            <a:avLst/>
          </a:prstGeom>
          <a:noFill/>
          <a:ln/>
        </p:spPr>
        <p:txBody>
          <a:bodyPr wrap="square" lIns="0" tIns="0" rIns="0" bIns="0" rtlCol="0" anchor="ctr"/>
          <a:lstStyle/>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Incremental approvals are statistically credible</a:t>
            </a:r>
            <a:endParaRPr lang="en-US" sz="1050" dirty="0"/>
          </a:p>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Cost / incremental approval is attractive</a:t>
            </a:r>
            <a:endParaRPr lang="en-US" sz="1050" dirty="0"/>
          </a:p>
          <a:p>
            <a:pPr marL="127000" indent="-1270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Effect persists across key segments</a:t>
            </a:r>
            <a:endParaRPr lang="en-US" sz="1050" dirty="0"/>
          </a:p>
        </p:txBody>
      </p:sp>
      <p:sp>
        <p:nvSpPr>
          <p:cNvPr id="32" name="Shape 30"/>
          <p:cNvSpPr/>
          <p:nvPr/>
        </p:nvSpPr>
        <p:spPr>
          <a:xfrm>
            <a:off x="502920" y="5623560"/>
            <a:ext cx="11155680" cy="1005840"/>
          </a:xfrm>
          <a:prstGeom prst="roundRect">
            <a:avLst>
              <a:gd name="adj" fmla="val 8182"/>
            </a:avLst>
          </a:prstGeom>
          <a:solidFill>
            <a:srgbClr val="F96167"/>
          </a:solidFill>
          <a:ln/>
        </p:spPr>
      </p:sp>
      <p:sp>
        <p:nvSpPr>
          <p:cNvPr id="33" name="Text 31"/>
          <p:cNvSpPr txBox="1"/>
          <p:nvPr/>
        </p:nvSpPr>
        <p:spPr>
          <a:xfrm>
            <a:off x="685800" y="5669280"/>
            <a:ext cx="45720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RECOVER  →  FIX  →  ACQUIRE</a:t>
            </a:r>
            <a:endParaRPr lang="en-US" sz="2000" dirty="0"/>
          </a:p>
        </p:txBody>
      </p:sp>
      <p:sp>
        <p:nvSpPr>
          <p:cNvPr id="34" name="Text 32"/>
          <p:cNvSpPr txBox="1"/>
          <p:nvPr/>
        </p:nvSpPr>
        <p:spPr>
          <a:xfrm>
            <a:off x="685800" y="6108192"/>
            <a:ext cx="10789920" cy="438912"/>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Recover existing funnel supply  ›  Fix late-night airport economics  ›  Acquire selectively for the residual gap</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1373</Words>
  <Application>Microsoft Office PowerPoint</Application>
  <PresentationFormat>Widescreen</PresentationFormat>
  <Paragraphs>170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Yashas D</cp:lastModifiedBy>
  <cp:revision>2</cp:revision>
  <dcterms:created xsi:type="dcterms:W3CDTF">2026-09-10T08:25:36Z</dcterms:created>
  <dcterms:modified xsi:type="dcterms:W3CDTF">2026-09-10T08:57:09Z</dcterms:modified>
</cp:coreProperties>
</file>